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456" y="-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13" Type="http://schemas.openxmlformats.org/officeDocument/2006/relationships/image" Target="../media/image12.png" /><Relationship Id="rId18" Type="http://schemas.openxmlformats.org/officeDocument/2006/relationships/image" Target="../media/image17.png" /><Relationship Id="rId3" Type="http://schemas.openxmlformats.org/officeDocument/2006/relationships/image" Target="../media/image2.png" /><Relationship Id="rId21" Type="http://schemas.openxmlformats.org/officeDocument/2006/relationships/image" Target="../media/image20.png" /><Relationship Id="rId7" Type="http://schemas.openxmlformats.org/officeDocument/2006/relationships/image" Target="../media/image6.png" /><Relationship Id="rId12" Type="http://schemas.openxmlformats.org/officeDocument/2006/relationships/image" Target="../media/image11.png" /><Relationship Id="rId17" Type="http://schemas.openxmlformats.org/officeDocument/2006/relationships/image" Target="../media/image16.png" /><Relationship Id="rId2" Type="http://schemas.openxmlformats.org/officeDocument/2006/relationships/image" Target="../media/image1.png" /><Relationship Id="rId16" Type="http://schemas.openxmlformats.org/officeDocument/2006/relationships/image" Target="../media/image15.png" /><Relationship Id="rId20" Type="http://schemas.openxmlformats.org/officeDocument/2006/relationships/image" Target="../media/image19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24" Type="http://schemas.openxmlformats.org/officeDocument/2006/relationships/image" Target="../media/image23.png" /><Relationship Id="rId5" Type="http://schemas.openxmlformats.org/officeDocument/2006/relationships/image" Target="../media/image4.png" /><Relationship Id="rId15" Type="http://schemas.openxmlformats.org/officeDocument/2006/relationships/image" Target="../media/image14.png" /><Relationship Id="rId23" Type="http://schemas.openxmlformats.org/officeDocument/2006/relationships/image" Target="../media/image22.png" /><Relationship Id="rId10" Type="http://schemas.openxmlformats.org/officeDocument/2006/relationships/image" Target="../media/image9.png" /><Relationship Id="rId19" Type="http://schemas.openxmlformats.org/officeDocument/2006/relationships/image" Target="../media/image18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Relationship Id="rId14" Type="http://schemas.openxmlformats.org/officeDocument/2006/relationships/image" Target="../media/image13.png" /><Relationship Id="rId22" Type="http://schemas.openxmlformats.org/officeDocument/2006/relationships/image" Target="../media/image21.png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 /><Relationship Id="rId18" Type="http://schemas.openxmlformats.org/officeDocument/2006/relationships/image" Target="../media/image12.png" /><Relationship Id="rId26" Type="http://schemas.openxmlformats.org/officeDocument/2006/relationships/image" Target="../media/image20.png" /><Relationship Id="rId39" Type="http://schemas.openxmlformats.org/officeDocument/2006/relationships/image" Target="../media/image33.png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15.png" /><Relationship Id="rId34" Type="http://schemas.openxmlformats.org/officeDocument/2006/relationships/image" Target="../media/image28.png" /><Relationship Id="rId42" Type="http://schemas.openxmlformats.org/officeDocument/2006/relationships/image" Target="../media/image36.png" /><Relationship Id="rId47" Type="http://schemas.openxmlformats.org/officeDocument/2006/relationships/image" Target="../media/image41.png" /><Relationship Id="rId50" Type="http://schemas.openxmlformats.org/officeDocument/2006/relationships/image" Target="../media/image44.png" /><Relationship Id="rId7" Type="http://schemas.openxmlformats.org/officeDocument/2006/relationships/image" Target="../media/image1.png" /><Relationship Id="rId12" Type="http://schemas.openxmlformats.org/officeDocument/2006/relationships/image" Target="../media/image6.png" /><Relationship Id="rId17" Type="http://schemas.openxmlformats.org/officeDocument/2006/relationships/image" Target="../media/image11.png" /><Relationship Id="rId25" Type="http://schemas.openxmlformats.org/officeDocument/2006/relationships/image" Target="../media/image19.png" /><Relationship Id="rId33" Type="http://schemas.openxmlformats.org/officeDocument/2006/relationships/image" Target="../media/image27.png" /><Relationship Id="rId38" Type="http://schemas.openxmlformats.org/officeDocument/2006/relationships/image" Target="../media/image32.png" /><Relationship Id="rId46" Type="http://schemas.openxmlformats.org/officeDocument/2006/relationships/image" Target="../media/image40.png" /><Relationship Id="rId2" Type="http://schemas.openxmlformats.org/officeDocument/2006/relationships/slideLayout" Target="../slideLayouts/slideLayout2.xml" /><Relationship Id="rId16" Type="http://schemas.openxmlformats.org/officeDocument/2006/relationships/image" Target="../media/image10.png" /><Relationship Id="rId20" Type="http://schemas.openxmlformats.org/officeDocument/2006/relationships/image" Target="../media/image14.png" /><Relationship Id="rId29" Type="http://schemas.openxmlformats.org/officeDocument/2006/relationships/image" Target="../media/image23.png" /><Relationship Id="rId41" Type="http://schemas.openxmlformats.org/officeDocument/2006/relationships/image" Target="../media/image35.png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11" Type="http://schemas.openxmlformats.org/officeDocument/2006/relationships/image" Target="../media/image5.png" /><Relationship Id="rId24" Type="http://schemas.openxmlformats.org/officeDocument/2006/relationships/image" Target="../media/image18.png" /><Relationship Id="rId32" Type="http://schemas.openxmlformats.org/officeDocument/2006/relationships/image" Target="../media/image26.png" /><Relationship Id="rId37" Type="http://schemas.openxmlformats.org/officeDocument/2006/relationships/image" Target="../media/image31.png" /><Relationship Id="rId40" Type="http://schemas.openxmlformats.org/officeDocument/2006/relationships/image" Target="../media/image34.png" /><Relationship Id="rId45" Type="http://schemas.openxmlformats.org/officeDocument/2006/relationships/image" Target="../media/image39.png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9.png" /><Relationship Id="rId23" Type="http://schemas.openxmlformats.org/officeDocument/2006/relationships/image" Target="../media/image17.png" /><Relationship Id="rId28" Type="http://schemas.openxmlformats.org/officeDocument/2006/relationships/image" Target="../media/image22.png" /><Relationship Id="rId36" Type="http://schemas.openxmlformats.org/officeDocument/2006/relationships/image" Target="../media/image30.png" /><Relationship Id="rId49" Type="http://schemas.openxmlformats.org/officeDocument/2006/relationships/image" Target="../media/image43.png" /><Relationship Id="rId10" Type="http://schemas.openxmlformats.org/officeDocument/2006/relationships/image" Target="../media/image4.png" /><Relationship Id="rId19" Type="http://schemas.openxmlformats.org/officeDocument/2006/relationships/image" Target="../media/image13.png" /><Relationship Id="rId31" Type="http://schemas.openxmlformats.org/officeDocument/2006/relationships/image" Target="../media/image25.png" /><Relationship Id="rId44" Type="http://schemas.openxmlformats.org/officeDocument/2006/relationships/image" Target="../media/image38.png" /><Relationship Id="rId52" Type="http://schemas.openxmlformats.org/officeDocument/2006/relationships/image" Target="../media/image46.png" /><Relationship Id="rId4" Type="http://schemas.openxmlformats.org/officeDocument/2006/relationships/slideLayout" Target="../slideLayouts/slideLayout4.xml" /><Relationship Id="rId9" Type="http://schemas.openxmlformats.org/officeDocument/2006/relationships/image" Target="../media/image3.png" /><Relationship Id="rId14" Type="http://schemas.openxmlformats.org/officeDocument/2006/relationships/image" Target="../media/image8.png" /><Relationship Id="rId22" Type="http://schemas.openxmlformats.org/officeDocument/2006/relationships/image" Target="../media/image16.png" /><Relationship Id="rId27" Type="http://schemas.openxmlformats.org/officeDocument/2006/relationships/image" Target="../media/image21.png" /><Relationship Id="rId30" Type="http://schemas.openxmlformats.org/officeDocument/2006/relationships/image" Target="../media/image24.png" /><Relationship Id="rId35" Type="http://schemas.openxmlformats.org/officeDocument/2006/relationships/image" Target="../media/image29.png" /><Relationship Id="rId43" Type="http://schemas.openxmlformats.org/officeDocument/2006/relationships/image" Target="../media/image37.png" /><Relationship Id="rId48" Type="http://schemas.openxmlformats.org/officeDocument/2006/relationships/image" Target="../media/image42.png" /><Relationship Id="rId8" Type="http://schemas.openxmlformats.org/officeDocument/2006/relationships/image" Target="../media/image2.png" /><Relationship Id="rId51" Type="http://schemas.openxmlformats.org/officeDocument/2006/relationships/image" Target="../media/image45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-1557" y="8550602"/>
            <a:ext cx="3329798" cy="173314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15" y="8590214"/>
            <a:ext cx="3383187" cy="1689944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-1659" y="8640934"/>
            <a:ext cx="3436124" cy="1641286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-1655" y="8679855"/>
            <a:ext cx="3494729" cy="1606584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-1603" y="8731724"/>
            <a:ext cx="3544867" cy="1553315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-1746" y="8776773"/>
            <a:ext cx="3598795" cy="1508462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29" y="8825347"/>
            <a:ext cx="3642659" cy="1460803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0" y="8870580"/>
            <a:ext cx="3695656" cy="1416418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-1818" y="8923897"/>
            <a:ext cx="3746453" cy="1356802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-1958" y="8973210"/>
            <a:ext cx="3802463" cy="1307092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-1844" y="9021436"/>
            <a:ext cx="3855148" cy="1262786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-1807" y="9077280"/>
            <a:ext cx="3909912" cy="1208444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-2029" y="8851438"/>
            <a:ext cx="3597724" cy="1431141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-1680" y="8635176"/>
            <a:ext cx="3305646" cy="1646342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-18" y="8402397"/>
            <a:ext cx="3041742" cy="1874474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-1520" y="8181157"/>
            <a:ext cx="2781062" cy="2095987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-1465" y="7951582"/>
            <a:ext cx="2531837" cy="2331199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-2001" y="7715125"/>
            <a:ext cx="2288778" cy="2565836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-1794" y="7485425"/>
            <a:ext cx="2048220" cy="2800825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-412" y="7248353"/>
            <a:ext cx="1809472" cy="3034787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0" y="7011227"/>
            <a:ext cx="1575895" cy="3275771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-2042" y="6770453"/>
            <a:ext cx="1344166" cy="3510197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0" y="6526097"/>
            <a:ext cx="1114579" cy="3760902"/>
          </a:xfrm>
          <a:prstGeom prst="rect">
            <a:avLst/>
          </a:prstGeom>
        </p:spPr>
      </p:pic>
      <p:sp>
        <p:nvSpPr>
          <p:cNvPr id="63" name="bg object 63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1734" y="248284"/>
            <a:ext cx="8422005" cy="11198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75317" y="2726802"/>
            <a:ext cx="12630150" cy="505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438640" y="9006877"/>
            <a:ext cx="861059" cy="899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53535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 /><Relationship Id="rId13" Type="http://schemas.openxmlformats.org/officeDocument/2006/relationships/image" Target="../media/image58.png" /><Relationship Id="rId18" Type="http://schemas.openxmlformats.org/officeDocument/2006/relationships/image" Target="../media/image63.png" /><Relationship Id="rId3" Type="http://schemas.openxmlformats.org/officeDocument/2006/relationships/image" Target="../media/image48.png" /><Relationship Id="rId21" Type="http://schemas.openxmlformats.org/officeDocument/2006/relationships/image" Target="../media/image66.png" /><Relationship Id="rId7" Type="http://schemas.openxmlformats.org/officeDocument/2006/relationships/image" Target="../media/image52.png" /><Relationship Id="rId12" Type="http://schemas.openxmlformats.org/officeDocument/2006/relationships/image" Target="../media/image57.png" /><Relationship Id="rId17" Type="http://schemas.openxmlformats.org/officeDocument/2006/relationships/image" Target="../media/image62.png" /><Relationship Id="rId2" Type="http://schemas.openxmlformats.org/officeDocument/2006/relationships/image" Target="../media/image47.png" /><Relationship Id="rId16" Type="http://schemas.openxmlformats.org/officeDocument/2006/relationships/image" Target="../media/image61.png" /><Relationship Id="rId20" Type="http://schemas.openxmlformats.org/officeDocument/2006/relationships/image" Target="../media/image6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1.png" /><Relationship Id="rId11" Type="http://schemas.openxmlformats.org/officeDocument/2006/relationships/image" Target="../media/image56.png" /><Relationship Id="rId24" Type="http://schemas.openxmlformats.org/officeDocument/2006/relationships/image" Target="../media/image69.png" /><Relationship Id="rId5" Type="http://schemas.openxmlformats.org/officeDocument/2006/relationships/image" Target="../media/image50.png" /><Relationship Id="rId15" Type="http://schemas.openxmlformats.org/officeDocument/2006/relationships/image" Target="../media/image60.png" /><Relationship Id="rId23" Type="http://schemas.openxmlformats.org/officeDocument/2006/relationships/image" Target="../media/image68.png" /><Relationship Id="rId10" Type="http://schemas.openxmlformats.org/officeDocument/2006/relationships/image" Target="../media/image55.png" /><Relationship Id="rId19" Type="http://schemas.openxmlformats.org/officeDocument/2006/relationships/image" Target="../media/image64.png" /><Relationship Id="rId4" Type="http://schemas.openxmlformats.org/officeDocument/2006/relationships/image" Target="../media/image49.png" /><Relationship Id="rId9" Type="http://schemas.openxmlformats.org/officeDocument/2006/relationships/image" Target="../media/image54.png" /><Relationship Id="rId14" Type="http://schemas.openxmlformats.org/officeDocument/2006/relationships/image" Target="../media/image59.png" /><Relationship Id="rId22" Type="http://schemas.openxmlformats.org/officeDocument/2006/relationships/image" Target="../media/image67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 /><Relationship Id="rId2" Type="http://schemas.openxmlformats.org/officeDocument/2006/relationships/image" Target="../media/image7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74.png" /><Relationship Id="rId4" Type="http://schemas.openxmlformats.org/officeDocument/2006/relationships/image" Target="../media/image7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 /><Relationship Id="rId2" Type="http://schemas.openxmlformats.org/officeDocument/2006/relationships/image" Target="../media/image7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8.png" /><Relationship Id="rId5" Type="http://schemas.openxmlformats.org/officeDocument/2006/relationships/image" Target="../media/image77.png" /><Relationship Id="rId4" Type="http://schemas.openxmlformats.org/officeDocument/2006/relationships/image" Target="../media/image7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 /><Relationship Id="rId2" Type="http://schemas.openxmlformats.org/officeDocument/2006/relationships/image" Target="../media/image79.jp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 /><Relationship Id="rId2" Type="http://schemas.openxmlformats.org/officeDocument/2006/relationships/image" Target="../media/image81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84.png" /><Relationship Id="rId4" Type="http://schemas.openxmlformats.org/officeDocument/2006/relationships/image" Target="../media/image8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 /><Relationship Id="rId2" Type="http://schemas.openxmlformats.org/officeDocument/2006/relationships/image" Target="../media/image85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87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 /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02312" y="6882983"/>
            <a:ext cx="4585970" cy="3404235"/>
            <a:chOff x="13702312" y="6882983"/>
            <a:chExt cx="4585970" cy="34042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18661" y="7542458"/>
              <a:ext cx="2463799" cy="27372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69715" y="7473841"/>
              <a:ext cx="2412999" cy="28131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27481" y="7419070"/>
              <a:ext cx="2349499" cy="28679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74854" y="7350917"/>
              <a:ext cx="2311399" cy="29360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31950" y="7292987"/>
              <a:ext cx="2247899" cy="29940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84883" y="7230010"/>
              <a:ext cx="2197099" cy="30569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143364" y="7176601"/>
              <a:ext cx="2133599" cy="31103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196299" y="7114482"/>
              <a:ext cx="2091700" cy="31725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59937" y="7059805"/>
              <a:ext cx="2019299" cy="322719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316009" y="6998266"/>
              <a:ext cx="1968499" cy="32887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76343" y="6941005"/>
              <a:ext cx="1904999" cy="33459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437374" y="6882983"/>
              <a:ext cx="1841499" cy="34040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212652" y="7167869"/>
              <a:ext cx="2070099" cy="31191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998906" y="7451487"/>
              <a:ext cx="2285999" cy="28355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760645" y="7713784"/>
              <a:ext cx="2527299" cy="25732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534260" y="7991712"/>
              <a:ext cx="2743199" cy="22952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294016" y="8258333"/>
              <a:ext cx="2984499" cy="202866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040639" y="8522228"/>
              <a:ext cx="3238499" cy="17647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792897" y="8785787"/>
              <a:ext cx="3492499" cy="15012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530709" y="9047419"/>
              <a:ext cx="3746499" cy="12395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260542" y="9306967"/>
              <a:ext cx="4025899" cy="9800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984685" y="9538265"/>
              <a:ext cx="4292599" cy="74873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702312" y="9639084"/>
              <a:ext cx="4585687" cy="647915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5488054" y="0"/>
            <a:ext cx="2800350" cy="2526030"/>
            <a:chOff x="15488054" y="0"/>
            <a:chExt cx="2800350" cy="2526030"/>
          </a:xfrm>
        </p:grpSpPr>
        <p:sp>
          <p:nvSpPr>
            <p:cNvPr id="27" name="object 27"/>
            <p:cNvSpPr/>
            <p:nvPr/>
          </p:nvSpPr>
          <p:spPr>
            <a:xfrm>
              <a:off x="15488054" y="0"/>
              <a:ext cx="2800350" cy="2526030"/>
            </a:xfrm>
            <a:custGeom>
              <a:avLst/>
              <a:gdLst/>
              <a:ahLst/>
              <a:cxnLst/>
              <a:rect l="l" t="t" r="r" b="b"/>
              <a:pathLst>
                <a:path w="2800350" h="2526030">
                  <a:moveTo>
                    <a:pt x="0" y="0"/>
                  </a:moveTo>
                  <a:lnTo>
                    <a:pt x="2799944" y="2525886"/>
                  </a:lnTo>
                  <a:lnTo>
                    <a:pt x="27999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844815" y="0"/>
              <a:ext cx="2443480" cy="2443480"/>
            </a:xfrm>
            <a:custGeom>
              <a:avLst/>
              <a:gdLst/>
              <a:ahLst/>
              <a:cxnLst/>
              <a:rect l="l" t="t" r="r" b="b"/>
              <a:pathLst>
                <a:path w="2443480" h="2443480">
                  <a:moveTo>
                    <a:pt x="2443184" y="0"/>
                  </a:moveTo>
                  <a:lnTo>
                    <a:pt x="0" y="0"/>
                  </a:lnTo>
                  <a:lnTo>
                    <a:pt x="2443184" y="2443184"/>
                  </a:lnTo>
                  <a:lnTo>
                    <a:pt x="24431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5098306" y="1486077"/>
            <a:ext cx="8148955" cy="151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79830" marR="5080" indent="-1167765">
              <a:lnSpc>
                <a:spcPct val="116100"/>
              </a:lnSpc>
              <a:spcBef>
                <a:spcPts val="95"/>
              </a:spcBef>
            </a:pPr>
            <a:r>
              <a:rPr sz="4200" spc="-210" dirty="0"/>
              <a:t>AI-</a:t>
            </a:r>
            <a:r>
              <a:rPr sz="4200" spc="140" dirty="0"/>
              <a:t>POWERED</a:t>
            </a:r>
            <a:r>
              <a:rPr sz="4200" spc="-30" dirty="0"/>
              <a:t> </a:t>
            </a:r>
            <a:r>
              <a:rPr sz="4200" spc="-140" dirty="0"/>
              <a:t>MULTI-</a:t>
            </a:r>
            <a:r>
              <a:rPr sz="4200" spc="-10" dirty="0"/>
              <a:t>DISEASE </a:t>
            </a:r>
            <a:r>
              <a:rPr sz="4200" spc="-75" dirty="0"/>
              <a:t>PREDICTION</a:t>
            </a:r>
            <a:r>
              <a:rPr sz="4200" spc="-210" dirty="0"/>
              <a:t> </a:t>
            </a:r>
            <a:r>
              <a:rPr sz="4200" spc="70" dirty="0"/>
              <a:t>SYSTEM</a:t>
            </a:r>
            <a:endParaRPr sz="4200" dirty="0"/>
          </a:p>
        </p:txBody>
      </p:sp>
      <p:sp>
        <p:nvSpPr>
          <p:cNvPr id="30" name="object 30"/>
          <p:cNvSpPr txBox="1"/>
          <p:nvPr/>
        </p:nvSpPr>
        <p:spPr>
          <a:xfrm>
            <a:off x="4002918" y="4735848"/>
            <a:ext cx="11705590" cy="439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0" dirty="0">
                <a:solidFill>
                  <a:srgbClr val="3F3C3D"/>
                </a:solidFill>
                <a:latin typeface="Arial Black"/>
                <a:cs typeface="Arial Black"/>
              </a:rPr>
              <a:t>Using</a:t>
            </a:r>
            <a:r>
              <a:rPr sz="3600" spc="-310" dirty="0">
                <a:solidFill>
                  <a:srgbClr val="3F3C3D"/>
                </a:solidFill>
                <a:latin typeface="Arial Black"/>
                <a:cs typeface="Arial Black"/>
              </a:rPr>
              <a:t> </a:t>
            </a:r>
            <a:r>
              <a:rPr sz="3600" spc="-80" dirty="0">
                <a:solidFill>
                  <a:srgbClr val="3F3C3D"/>
                </a:solidFill>
                <a:latin typeface="Arial Black"/>
                <a:cs typeface="Arial Black"/>
              </a:rPr>
              <a:t>Machine</a:t>
            </a:r>
            <a:r>
              <a:rPr sz="3600" spc="-385" dirty="0">
                <a:solidFill>
                  <a:srgbClr val="3F3C3D"/>
                </a:solidFill>
                <a:latin typeface="Arial Black"/>
                <a:cs typeface="Arial Black"/>
              </a:rPr>
              <a:t> </a:t>
            </a:r>
            <a:r>
              <a:rPr sz="3600" spc="-60" dirty="0">
                <a:solidFill>
                  <a:srgbClr val="3F3C3D"/>
                </a:solidFill>
                <a:latin typeface="Arial Black"/>
                <a:cs typeface="Arial Black"/>
              </a:rPr>
              <a:t>learning</a:t>
            </a:r>
            <a:r>
              <a:rPr sz="3600" spc="-305" dirty="0">
                <a:solidFill>
                  <a:srgbClr val="3F3C3D"/>
                </a:solidFill>
                <a:latin typeface="Arial Black"/>
                <a:cs typeface="Arial Black"/>
              </a:rPr>
              <a:t> </a:t>
            </a:r>
            <a:r>
              <a:rPr sz="3600" spc="-20" dirty="0">
                <a:solidFill>
                  <a:srgbClr val="3F3C3D"/>
                </a:solidFill>
                <a:latin typeface="Arial Black"/>
                <a:cs typeface="Arial Black"/>
              </a:rPr>
              <a:t>and</a:t>
            </a:r>
            <a:r>
              <a:rPr sz="3600" spc="-360" dirty="0">
                <a:solidFill>
                  <a:srgbClr val="3F3C3D"/>
                </a:solidFill>
                <a:latin typeface="Arial Black"/>
                <a:cs typeface="Arial Black"/>
              </a:rPr>
              <a:t> </a:t>
            </a:r>
            <a:r>
              <a:rPr sz="3600" spc="-85" dirty="0">
                <a:solidFill>
                  <a:srgbClr val="3F3C3D"/>
                </a:solidFill>
                <a:latin typeface="Arial Black"/>
                <a:cs typeface="Arial Black"/>
              </a:rPr>
              <a:t>Streamlit</a:t>
            </a:r>
            <a:r>
              <a:rPr sz="3600" spc="-305" dirty="0">
                <a:solidFill>
                  <a:srgbClr val="3F3C3D"/>
                </a:solidFill>
                <a:latin typeface="Arial Black"/>
                <a:cs typeface="Arial Black"/>
              </a:rPr>
              <a:t> </a:t>
            </a:r>
            <a:r>
              <a:rPr sz="3600" spc="-25" dirty="0">
                <a:solidFill>
                  <a:srgbClr val="3F3C3D"/>
                </a:solidFill>
                <a:latin typeface="Arial Black"/>
                <a:cs typeface="Arial Black"/>
              </a:rPr>
              <a:t>app</a:t>
            </a:r>
            <a:endParaRPr sz="36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36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3600" dirty="0">
              <a:latin typeface="Arial Black"/>
              <a:cs typeface="Arial Black"/>
            </a:endParaRPr>
          </a:p>
          <a:p>
            <a:pPr marL="5499735" marR="5080" indent="1524635">
              <a:lnSpc>
                <a:spcPct val="115799"/>
              </a:lnSpc>
              <a:tabLst>
                <a:tab pos="8964930" algn="l"/>
              </a:tabLst>
            </a:pPr>
            <a:r>
              <a:rPr sz="4750" spc="-70" dirty="0">
                <a:solidFill>
                  <a:srgbClr val="3F3C3D"/>
                </a:solidFill>
                <a:latin typeface="Arial Black"/>
                <a:cs typeface="Arial Black"/>
              </a:rPr>
              <a:t>Done</a:t>
            </a:r>
            <a:r>
              <a:rPr sz="4750" spc="-535" dirty="0">
                <a:solidFill>
                  <a:srgbClr val="3F3C3D"/>
                </a:solidFill>
                <a:latin typeface="Arial Black"/>
                <a:cs typeface="Arial Black"/>
              </a:rPr>
              <a:t> </a:t>
            </a:r>
            <a:r>
              <a:rPr sz="4750" spc="-25" dirty="0">
                <a:solidFill>
                  <a:srgbClr val="3F3C3D"/>
                </a:solidFill>
                <a:latin typeface="Arial Black"/>
                <a:cs typeface="Arial Black"/>
              </a:rPr>
              <a:t>by, </a:t>
            </a:r>
            <a:r>
              <a:rPr sz="4750" spc="160" dirty="0">
                <a:solidFill>
                  <a:srgbClr val="3F3C3D"/>
                </a:solidFill>
                <a:latin typeface="Lucida Sans Unicode"/>
                <a:cs typeface="Lucida Sans Unicode"/>
              </a:rPr>
              <a:t>Ponnishree</a:t>
            </a:r>
            <a:r>
              <a:rPr sz="4750" spc="-434" dirty="0">
                <a:solidFill>
                  <a:srgbClr val="3F3C3D"/>
                </a:solidFill>
                <a:latin typeface="Lucida Sans Unicode"/>
                <a:cs typeface="Lucida Sans Unicode"/>
              </a:rPr>
              <a:t> </a:t>
            </a:r>
            <a:r>
              <a:rPr sz="4750" spc="-580" dirty="0">
                <a:solidFill>
                  <a:srgbClr val="3F3C3D"/>
                </a:solidFill>
                <a:latin typeface="Lucida Sans Unicode"/>
                <a:cs typeface="Lucida Sans Unicode"/>
              </a:rPr>
              <a:t>-</a:t>
            </a:r>
            <a:r>
              <a:rPr sz="4750" spc="-360" dirty="0">
                <a:solidFill>
                  <a:srgbClr val="3F3C3D"/>
                </a:solidFill>
                <a:latin typeface="Lucida Sans Unicode"/>
                <a:cs typeface="Lucida Sans Unicode"/>
              </a:rPr>
              <a:t> </a:t>
            </a:r>
            <a:r>
              <a:rPr sz="4750" spc="-290" dirty="0">
                <a:solidFill>
                  <a:srgbClr val="3F3C3D"/>
                </a:solidFill>
                <a:latin typeface="Lucida Sans Unicode"/>
                <a:cs typeface="Lucida Sans Unicode"/>
              </a:rPr>
              <a:t>23D231 </a:t>
            </a:r>
            <a:r>
              <a:rPr sz="4750" spc="140" dirty="0">
                <a:solidFill>
                  <a:srgbClr val="3F3C3D"/>
                </a:solidFill>
                <a:latin typeface="Lucida Sans Unicode"/>
                <a:cs typeface="Lucida Sans Unicode"/>
              </a:rPr>
              <a:t>Srinivasan</a:t>
            </a:r>
            <a:r>
              <a:rPr sz="4750" dirty="0">
                <a:solidFill>
                  <a:srgbClr val="3F3C3D"/>
                </a:solidFill>
                <a:latin typeface="Lucida Sans Unicode"/>
                <a:cs typeface="Lucida Sans Unicode"/>
              </a:rPr>
              <a:t>	</a:t>
            </a:r>
            <a:r>
              <a:rPr sz="4750" spc="-580" dirty="0">
                <a:solidFill>
                  <a:srgbClr val="3F3C3D"/>
                </a:solidFill>
                <a:latin typeface="Lucida Sans Unicode"/>
                <a:cs typeface="Lucida Sans Unicode"/>
              </a:rPr>
              <a:t>-</a:t>
            </a:r>
            <a:r>
              <a:rPr sz="4750" spc="-365" dirty="0">
                <a:solidFill>
                  <a:srgbClr val="3F3C3D"/>
                </a:solidFill>
                <a:latin typeface="Lucida Sans Unicode"/>
                <a:cs typeface="Lucida Sans Unicode"/>
              </a:rPr>
              <a:t> </a:t>
            </a:r>
            <a:r>
              <a:rPr sz="4750" spc="-80" dirty="0">
                <a:solidFill>
                  <a:srgbClr val="3F3C3D"/>
                </a:solidFill>
                <a:latin typeface="Lucida Sans Unicode"/>
                <a:cs typeface="Lucida Sans Unicode"/>
              </a:rPr>
              <a:t>23D249</a:t>
            </a:r>
            <a:endParaRPr sz="47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6208" y="2748311"/>
            <a:ext cx="1404620" cy="1045210"/>
          </a:xfrm>
          <a:custGeom>
            <a:avLst/>
            <a:gdLst/>
            <a:ahLst/>
            <a:cxnLst/>
            <a:rect l="l" t="t" r="r" b="b"/>
            <a:pathLst>
              <a:path w="1404620" h="1045210">
                <a:moveTo>
                  <a:pt x="883512" y="1044873"/>
                </a:moveTo>
                <a:lnTo>
                  <a:pt x="0" y="1044873"/>
                </a:lnTo>
                <a:lnTo>
                  <a:pt x="522436" y="522436"/>
                </a:lnTo>
                <a:lnTo>
                  <a:pt x="0" y="0"/>
                </a:lnTo>
                <a:lnTo>
                  <a:pt x="883512" y="0"/>
                </a:lnTo>
                <a:lnTo>
                  <a:pt x="1404048" y="520536"/>
                </a:lnTo>
                <a:lnTo>
                  <a:pt x="1404048" y="524337"/>
                </a:lnTo>
                <a:lnTo>
                  <a:pt x="883512" y="1044873"/>
                </a:lnTo>
                <a:close/>
              </a:path>
            </a:pathLst>
          </a:custGeom>
          <a:solidFill>
            <a:srgbClr val="3F3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06208" y="6371860"/>
            <a:ext cx="1543050" cy="1089660"/>
            <a:chOff x="1706208" y="6371860"/>
            <a:chExt cx="1543050" cy="1089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4438" y="6495685"/>
              <a:ext cx="209550" cy="2095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06208" y="6371860"/>
              <a:ext cx="1543050" cy="1089660"/>
            </a:xfrm>
            <a:custGeom>
              <a:avLst/>
              <a:gdLst/>
              <a:ahLst/>
              <a:cxnLst/>
              <a:rect l="l" t="t" r="r" b="b"/>
              <a:pathLst>
                <a:path w="1543050" h="1089659">
                  <a:moveTo>
                    <a:pt x="771525" y="1089379"/>
                  </a:moveTo>
                  <a:lnTo>
                    <a:pt x="0" y="1089379"/>
                  </a:lnTo>
                  <a:lnTo>
                    <a:pt x="771525" y="544690"/>
                  </a:lnTo>
                  <a:lnTo>
                    <a:pt x="0" y="0"/>
                  </a:lnTo>
                  <a:lnTo>
                    <a:pt x="771525" y="0"/>
                  </a:lnTo>
                  <a:lnTo>
                    <a:pt x="1543050" y="544690"/>
                  </a:lnTo>
                  <a:lnTo>
                    <a:pt x="771525" y="1089379"/>
                  </a:lnTo>
                  <a:close/>
                </a:path>
              </a:pathLst>
            </a:custGeom>
            <a:solidFill>
              <a:srgbClr val="3F3C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6680" marR="511809" indent="-1305560">
              <a:lnSpc>
                <a:spcPct val="115799"/>
              </a:lnSpc>
              <a:spcBef>
                <a:spcPts val="100"/>
              </a:spcBef>
            </a:pPr>
            <a:r>
              <a:rPr spc="215" dirty="0"/>
              <a:t>Healthcare</a:t>
            </a:r>
            <a:r>
              <a:rPr spc="-420" dirty="0"/>
              <a:t> </a:t>
            </a:r>
            <a:r>
              <a:rPr spc="175" dirty="0"/>
              <a:t>burden</a:t>
            </a:r>
            <a:r>
              <a:rPr spc="-310" dirty="0"/>
              <a:t> </a:t>
            </a:r>
            <a:r>
              <a:rPr spc="-229" dirty="0"/>
              <a:t>→</a:t>
            </a:r>
            <a:r>
              <a:rPr spc="-310" dirty="0"/>
              <a:t> </a:t>
            </a:r>
            <a:r>
              <a:rPr spc="150" dirty="0"/>
              <a:t>Early</a:t>
            </a:r>
            <a:r>
              <a:rPr spc="-525" dirty="0"/>
              <a:t> </a:t>
            </a:r>
            <a:r>
              <a:rPr spc="229" dirty="0"/>
              <a:t>detection</a:t>
            </a:r>
            <a:r>
              <a:rPr spc="-415" dirty="0"/>
              <a:t> </a:t>
            </a:r>
            <a:r>
              <a:rPr spc="145" dirty="0"/>
              <a:t>of </a:t>
            </a:r>
            <a:r>
              <a:rPr spc="200" dirty="0"/>
              <a:t>chronic</a:t>
            </a:r>
            <a:r>
              <a:rPr spc="-515" dirty="0"/>
              <a:t> </a:t>
            </a:r>
            <a:r>
              <a:rPr spc="195" dirty="0"/>
              <a:t>diseases</a:t>
            </a:r>
            <a:r>
              <a:rPr spc="-405" dirty="0"/>
              <a:t> </a:t>
            </a:r>
            <a:r>
              <a:rPr dirty="0"/>
              <a:t>is</a:t>
            </a:r>
            <a:r>
              <a:rPr spc="-515" dirty="0"/>
              <a:t> </a:t>
            </a:r>
            <a:r>
              <a:rPr spc="130" dirty="0"/>
              <a:t>critical.</a:t>
            </a:r>
          </a:p>
          <a:p>
            <a:pPr marL="3618229" marR="5080" indent="-3606165">
              <a:lnSpc>
                <a:spcPct val="115799"/>
              </a:lnSpc>
            </a:pPr>
            <a:r>
              <a:rPr spc="170" dirty="0"/>
              <a:t>Manual</a:t>
            </a:r>
            <a:r>
              <a:rPr spc="-400" dirty="0"/>
              <a:t> </a:t>
            </a:r>
            <a:r>
              <a:rPr spc="130" dirty="0"/>
              <a:t>diagnosis</a:t>
            </a:r>
            <a:r>
              <a:rPr spc="-400" dirty="0"/>
              <a:t> </a:t>
            </a:r>
            <a:r>
              <a:rPr dirty="0"/>
              <a:t>is</a:t>
            </a:r>
            <a:r>
              <a:rPr spc="-545" dirty="0"/>
              <a:t> </a:t>
            </a:r>
            <a:r>
              <a:rPr spc="65" dirty="0"/>
              <a:t>time-</a:t>
            </a:r>
            <a:r>
              <a:rPr spc="195" dirty="0"/>
              <a:t>consuming</a:t>
            </a:r>
            <a:r>
              <a:rPr spc="-290" dirty="0"/>
              <a:t> </a:t>
            </a:r>
            <a:r>
              <a:rPr spc="215" dirty="0"/>
              <a:t>and </a:t>
            </a:r>
            <a:r>
              <a:rPr spc="-45" dirty="0"/>
              <a:t>error-</a:t>
            </a:r>
            <a:r>
              <a:rPr spc="70" dirty="0"/>
              <a:t>prone.</a:t>
            </a:r>
          </a:p>
          <a:p>
            <a:pPr marL="3352165" marR="753745" indent="-3210560">
              <a:lnSpc>
                <a:spcPct val="115799"/>
              </a:lnSpc>
            </a:pPr>
            <a:r>
              <a:rPr spc="210" dirty="0"/>
              <a:t>Lack</a:t>
            </a:r>
            <a:r>
              <a:rPr spc="-520" dirty="0"/>
              <a:t> </a:t>
            </a:r>
            <a:r>
              <a:rPr spc="170" dirty="0"/>
              <a:t>of</a:t>
            </a:r>
            <a:r>
              <a:rPr spc="-445" dirty="0"/>
              <a:t> </a:t>
            </a:r>
            <a:r>
              <a:rPr spc="245" dirty="0"/>
              <a:t>accessible</a:t>
            </a:r>
            <a:r>
              <a:rPr spc="-525" dirty="0"/>
              <a:t> </a:t>
            </a:r>
            <a:r>
              <a:rPr dirty="0"/>
              <a:t>AI</a:t>
            </a:r>
            <a:r>
              <a:rPr spc="-455" dirty="0"/>
              <a:t> </a:t>
            </a:r>
            <a:r>
              <a:rPr spc="120" dirty="0"/>
              <a:t>tools</a:t>
            </a:r>
            <a:r>
              <a:rPr spc="-595" dirty="0"/>
              <a:t> </a:t>
            </a:r>
            <a:r>
              <a:rPr spc="150" dirty="0"/>
              <a:t>for</a:t>
            </a:r>
            <a:r>
              <a:rPr spc="-400" dirty="0"/>
              <a:t> </a:t>
            </a:r>
            <a:r>
              <a:rPr spc="125" dirty="0"/>
              <a:t>multiple </a:t>
            </a:r>
            <a:r>
              <a:rPr spc="195" dirty="0"/>
              <a:t>diseases</a:t>
            </a:r>
            <a:r>
              <a:rPr spc="-425" dirty="0"/>
              <a:t> </a:t>
            </a:r>
            <a:r>
              <a:rPr spc="275" dirty="0"/>
              <a:t>at</a:t>
            </a:r>
            <a:r>
              <a:rPr spc="-420" dirty="0"/>
              <a:t> </a:t>
            </a:r>
            <a:r>
              <a:rPr spc="160" dirty="0"/>
              <a:t>once.</a:t>
            </a:r>
          </a:p>
        </p:txBody>
      </p:sp>
      <p:sp>
        <p:nvSpPr>
          <p:cNvPr id="8" name="object 8"/>
          <p:cNvSpPr/>
          <p:nvPr/>
        </p:nvSpPr>
        <p:spPr>
          <a:xfrm>
            <a:off x="1706208" y="4658528"/>
            <a:ext cx="1543050" cy="1113790"/>
          </a:xfrm>
          <a:custGeom>
            <a:avLst/>
            <a:gdLst/>
            <a:ahLst/>
            <a:cxnLst/>
            <a:rect l="l" t="t" r="r" b="b"/>
            <a:pathLst>
              <a:path w="1543050" h="1113789">
                <a:moveTo>
                  <a:pt x="771525" y="1113256"/>
                </a:moveTo>
                <a:lnTo>
                  <a:pt x="0" y="1113256"/>
                </a:lnTo>
                <a:lnTo>
                  <a:pt x="771525" y="556628"/>
                </a:lnTo>
                <a:lnTo>
                  <a:pt x="0" y="0"/>
                </a:lnTo>
                <a:lnTo>
                  <a:pt x="771525" y="0"/>
                </a:lnTo>
                <a:lnTo>
                  <a:pt x="1543050" y="556628"/>
                </a:lnTo>
                <a:lnTo>
                  <a:pt x="771525" y="111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7990" rIns="0" bIns="0" rtlCol="0">
            <a:spAutoFit/>
          </a:bodyPr>
          <a:lstStyle/>
          <a:p>
            <a:pPr marL="1392555">
              <a:lnSpc>
                <a:spcPct val="100000"/>
              </a:lnSpc>
              <a:spcBef>
                <a:spcPts val="100"/>
              </a:spcBef>
            </a:pPr>
            <a:r>
              <a:rPr sz="4200" spc="90" dirty="0"/>
              <a:t>PROBLEM</a:t>
            </a:r>
            <a:r>
              <a:rPr sz="4200" spc="-95" dirty="0"/>
              <a:t> </a:t>
            </a:r>
            <a:r>
              <a:rPr sz="4200" spc="105" dirty="0"/>
              <a:t>STATEMENT</a:t>
            </a:r>
            <a:endParaRPr sz="42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1931058"/>
            <a:ext cx="2124074" cy="2124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1027" y="3509407"/>
            <a:ext cx="657224" cy="6572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1027" y="4484274"/>
            <a:ext cx="657224" cy="6572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23154" y="3509407"/>
            <a:ext cx="657224" cy="6572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23154" y="4912900"/>
            <a:ext cx="657224" cy="6572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1027" y="5572125"/>
            <a:ext cx="657224" cy="6572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1027" y="6659975"/>
            <a:ext cx="657224" cy="6572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23154" y="6315474"/>
            <a:ext cx="657224" cy="6572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5841" y="7262955"/>
            <a:ext cx="2124074" cy="212407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602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PROPOSED</a:t>
            </a:r>
            <a:r>
              <a:rPr spc="-105" dirty="0"/>
              <a:t> </a:t>
            </a:r>
            <a:r>
              <a:rPr spc="-30" dirty="0"/>
              <a:t>SOLUTION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3487522" y="2596953"/>
            <a:ext cx="11770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Lucida Sans Unicode"/>
                <a:cs typeface="Lucida Sans Unicode"/>
              </a:rPr>
              <a:t>A</a:t>
            </a:r>
            <a:r>
              <a:rPr sz="3600" spc="-380" dirty="0">
                <a:latin typeface="Lucida Sans Unicode"/>
                <a:cs typeface="Lucida Sans Unicode"/>
              </a:rPr>
              <a:t> </a:t>
            </a:r>
            <a:r>
              <a:rPr sz="3600" spc="75" dirty="0">
                <a:latin typeface="Lucida Sans Unicode"/>
                <a:cs typeface="Lucida Sans Unicode"/>
              </a:rPr>
              <a:t>Streamlit-</a:t>
            </a:r>
            <a:r>
              <a:rPr sz="3600" spc="210" dirty="0">
                <a:latin typeface="Lucida Sans Unicode"/>
                <a:cs typeface="Lucida Sans Unicode"/>
              </a:rPr>
              <a:t>based</a:t>
            </a:r>
            <a:r>
              <a:rPr sz="3600" spc="-315" dirty="0">
                <a:latin typeface="Lucida Sans Unicode"/>
                <a:cs typeface="Lucida Sans Unicode"/>
              </a:rPr>
              <a:t> </a:t>
            </a:r>
            <a:r>
              <a:rPr sz="3600" dirty="0">
                <a:latin typeface="Lucida Sans Unicode"/>
                <a:cs typeface="Lucida Sans Unicode"/>
              </a:rPr>
              <a:t>AI</a:t>
            </a:r>
            <a:r>
              <a:rPr sz="3600" spc="-310" dirty="0">
                <a:latin typeface="Lucida Sans Unicode"/>
                <a:cs typeface="Lucida Sans Unicode"/>
              </a:rPr>
              <a:t> </a:t>
            </a:r>
            <a:r>
              <a:rPr sz="3600" spc="150" dirty="0">
                <a:latin typeface="Lucida Sans Unicode"/>
                <a:cs typeface="Lucida Sans Unicode"/>
              </a:rPr>
              <a:t>App</a:t>
            </a:r>
            <a:r>
              <a:rPr sz="3600" spc="-445" dirty="0">
                <a:latin typeface="Lucida Sans Unicode"/>
                <a:cs typeface="Lucida Sans Unicode"/>
              </a:rPr>
              <a:t> </a:t>
            </a:r>
            <a:r>
              <a:rPr sz="3600" spc="114" dirty="0">
                <a:latin typeface="Lucida Sans Unicode"/>
                <a:cs typeface="Lucida Sans Unicode"/>
              </a:rPr>
              <a:t>for</a:t>
            </a:r>
            <a:r>
              <a:rPr sz="3600" spc="-300" dirty="0">
                <a:latin typeface="Lucida Sans Unicode"/>
                <a:cs typeface="Lucida Sans Unicode"/>
              </a:rPr>
              <a:t> </a:t>
            </a:r>
            <a:r>
              <a:rPr sz="3600" spc="135" dirty="0">
                <a:latin typeface="Lucida Sans Unicode"/>
                <a:cs typeface="Lucida Sans Unicode"/>
              </a:rPr>
              <a:t>predicting</a:t>
            </a:r>
            <a:r>
              <a:rPr sz="3600" spc="-390" dirty="0">
                <a:latin typeface="Lucida Sans Unicode"/>
                <a:cs typeface="Lucida Sans Unicode"/>
              </a:rPr>
              <a:t> </a:t>
            </a:r>
            <a:r>
              <a:rPr sz="3600" spc="-345" dirty="0">
                <a:latin typeface="Lucida Sans Unicode"/>
                <a:cs typeface="Lucida Sans Unicode"/>
              </a:rPr>
              <a:t>7</a:t>
            </a:r>
            <a:r>
              <a:rPr sz="3600" spc="-390" dirty="0">
                <a:latin typeface="Lucida Sans Unicode"/>
                <a:cs typeface="Lucida Sans Unicode"/>
              </a:rPr>
              <a:t> </a:t>
            </a:r>
            <a:r>
              <a:rPr sz="3600" spc="105" dirty="0">
                <a:latin typeface="Lucida Sans Unicode"/>
                <a:cs typeface="Lucida Sans Unicode"/>
              </a:rPr>
              <a:t>diseases: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9440" y="3460512"/>
            <a:ext cx="3467735" cy="3781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0" dirty="0">
                <a:latin typeface="Lucida Sans Unicode"/>
                <a:cs typeface="Lucida Sans Unicode"/>
              </a:rPr>
              <a:t>kidney</a:t>
            </a:r>
            <a:r>
              <a:rPr sz="3600" spc="-395" dirty="0">
                <a:latin typeface="Lucida Sans Unicode"/>
                <a:cs typeface="Lucida Sans Unicode"/>
              </a:rPr>
              <a:t> </a:t>
            </a:r>
            <a:r>
              <a:rPr sz="3600" spc="150" dirty="0">
                <a:latin typeface="Lucida Sans Unicode"/>
                <a:cs typeface="Lucida Sans Unicode"/>
              </a:rPr>
              <a:t>disease</a:t>
            </a:r>
            <a:endParaRPr sz="36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354"/>
              </a:spcBef>
            </a:pPr>
            <a:r>
              <a:rPr sz="3600" spc="125" dirty="0">
                <a:latin typeface="Lucida Sans Unicode"/>
                <a:cs typeface="Lucida Sans Unicode"/>
              </a:rPr>
              <a:t>Hypertension</a:t>
            </a:r>
            <a:endParaRPr sz="3600" dirty="0">
              <a:latin typeface="Lucida Sans Unicode"/>
              <a:cs typeface="Lucida Sans Unicode"/>
            </a:endParaRPr>
          </a:p>
          <a:p>
            <a:pPr marL="61594" marR="1664970" indent="-15240">
              <a:lnSpc>
                <a:spcPct val="187400"/>
              </a:lnSpc>
              <a:spcBef>
                <a:spcPts val="1385"/>
              </a:spcBef>
            </a:pPr>
            <a:r>
              <a:rPr sz="3600" spc="130" dirty="0">
                <a:latin typeface="Lucida Sans Unicode"/>
                <a:cs typeface="Lucida Sans Unicode"/>
              </a:rPr>
              <a:t>Stroke </a:t>
            </a:r>
            <a:r>
              <a:rPr sz="3600" spc="245" dirty="0">
                <a:latin typeface="Lucida Sans Unicode"/>
                <a:cs typeface="Lucida Sans Unicode"/>
              </a:rPr>
              <a:t>Cancer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22485" y="3516757"/>
            <a:ext cx="2908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0" dirty="0">
                <a:latin typeface="Lucida Sans Unicode"/>
                <a:cs typeface="Lucida Sans Unicode"/>
              </a:rPr>
              <a:t>liver</a:t>
            </a:r>
            <a:r>
              <a:rPr sz="3600" spc="-385" dirty="0">
                <a:latin typeface="Lucida Sans Unicode"/>
                <a:cs typeface="Lucida Sans Unicode"/>
              </a:rPr>
              <a:t> </a:t>
            </a:r>
            <a:r>
              <a:rPr sz="3600" spc="150" dirty="0">
                <a:latin typeface="Lucida Sans Unicode"/>
                <a:cs typeface="Lucida Sans Unicode"/>
              </a:rPr>
              <a:t>disease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22485" y="4982114"/>
            <a:ext cx="2112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35" dirty="0">
                <a:latin typeface="Lucida Sans Unicode"/>
                <a:cs typeface="Lucida Sans Unicode"/>
              </a:rPr>
              <a:t>Diabetes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22485" y="6337712"/>
            <a:ext cx="3247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75" dirty="0">
                <a:latin typeface="Lucida Sans Unicode"/>
                <a:cs typeface="Lucida Sans Unicode"/>
              </a:rPr>
              <a:t>Heart</a:t>
            </a:r>
            <a:r>
              <a:rPr sz="3600" spc="-330" dirty="0">
                <a:latin typeface="Lucida Sans Unicode"/>
                <a:cs typeface="Lucida Sans Unicode"/>
              </a:rPr>
              <a:t> </a:t>
            </a:r>
            <a:r>
              <a:rPr sz="3600" spc="150" dirty="0">
                <a:latin typeface="Lucida Sans Unicode"/>
                <a:cs typeface="Lucida Sans Unicode"/>
              </a:rPr>
              <a:t>disease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87522" y="7799895"/>
            <a:ext cx="1301496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5975" marR="5080" indent="-3343910">
              <a:lnSpc>
                <a:spcPct val="116300"/>
              </a:lnSpc>
              <a:spcBef>
                <a:spcPts val="100"/>
              </a:spcBef>
              <a:tabLst>
                <a:tab pos="4483100" algn="l"/>
              </a:tabLst>
            </a:pPr>
            <a:r>
              <a:rPr sz="3600" spc="110" dirty="0">
                <a:latin typeface="Lucida Sans Unicode"/>
                <a:cs typeface="Lucida Sans Unicode"/>
              </a:rPr>
              <a:t>Interactive,</a:t>
            </a:r>
            <a:r>
              <a:rPr sz="3600" spc="-225" dirty="0">
                <a:latin typeface="Lucida Sans Unicode"/>
                <a:cs typeface="Lucida Sans Unicode"/>
              </a:rPr>
              <a:t> </a:t>
            </a:r>
            <a:r>
              <a:rPr sz="3600" spc="-40" dirty="0">
                <a:latin typeface="Lucida Sans Unicode"/>
                <a:cs typeface="Lucida Sans Unicode"/>
              </a:rPr>
              <a:t>user-</a:t>
            </a:r>
            <a:r>
              <a:rPr sz="3600" spc="110" dirty="0">
                <a:latin typeface="Lucida Sans Unicode"/>
                <a:cs typeface="Lucida Sans Unicode"/>
              </a:rPr>
              <a:t>friendly</a:t>
            </a:r>
            <a:r>
              <a:rPr sz="3600" spc="-290" dirty="0">
                <a:latin typeface="Lucida Sans Unicode"/>
                <a:cs typeface="Lucida Sans Unicode"/>
              </a:rPr>
              <a:t> </a:t>
            </a:r>
            <a:r>
              <a:rPr sz="3600" spc="229" dirty="0">
                <a:latin typeface="Lucida Sans Unicode"/>
                <a:cs typeface="Lucida Sans Unicode"/>
              </a:rPr>
              <a:t>app</a:t>
            </a:r>
            <a:r>
              <a:rPr sz="3600" spc="-370" dirty="0">
                <a:latin typeface="Lucida Sans Unicode"/>
                <a:cs typeface="Lucida Sans Unicode"/>
              </a:rPr>
              <a:t> </a:t>
            </a:r>
            <a:r>
              <a:rPr sz="3600" spc="150" dirty="0">
                <a:latin typeface="Lucida Sans Unicode"/>
                <a:cs typeface="Lucida Sans Unicode"/>
              </a:rPr>
              <a:t>with</a:t>
            </a:r>
            <a:r>
              <a:rPr sz="3600" spc="-210" dirty="0">
                <a:latin typeface="Lucida Sans Unicode"/>
                <a:cs typeface="Lucida Sans Unicode"/>
              </a:rPr>
              <a:t> </a:t>
            </a:r>
            <a:r>
              <a:rPr sz="3600" dirty="0">
                <a:latin typeface="Lucida Sans Unicode"/>
                <a:cs typeface="Lucida Sans Unicode"/>
              </a:rPr>
              <a:t>risk</a:t>
            </a:r>
            <a:r>
              <a:rPr sz="3600" spc="-280" dirty="0">
                <a:latin typeface="Lucida Sans Unicode"/>
                <a:cs typeface="Lucida Sans Unicode"/>
              </a:rPr>
              <a:t> </a:t>
            </a:r>
            <a:r>
              <a:rPr sz="3600" spc="135" dirty="0">
                <a:latin typeface="Lucida Sans Unicode"/>
                <a:cs typeface="Lucida Sans Unicode"/>
              </a:rPr>
              <a:t>prediction</a:t>
            </a:r>
            <a:r>
              <a:rPr sz="3600" spc="-290" dirty="0">
                <a:latin typeface="Lucida Sans Unicode"/>
                <a:cs typeface="Lucida Sans Unicode"/>
              </a:rPr>
              <a:t> </a:t>
            </a:r>
            <a:r>
              <a:rPr sz="3600" spc="160" dirty="0">
                <a:latin typeface="Lucida Sans Unicode"/>
                <a:cs typeface="Lucida Sans Unicode"/>
              </a:rPr>
              <a:t>gauge </a:t>
            </a:r>
            <a:r>
              <a:rPr sz="3600" spc="165" dirty="0">
                <a:latin typeface="Lucida Sans Unicode"/>
                <a:cs typeface="Lucida Sans Unicode"/>
              </a:rPr>
              <a:t>and</a:t>
            </a:r>
            <a:r>
              <a:rPr sz="3600" dirty="0">
                <a:latin typeface="Lucida Sans Unicode"/>
                <a:cs typeface="Lucida Sans Unicode"/>
              </a:rPr>
              <a:t>	</a:t>
            </a:r>
            <a:r>
              <a:rPr sz="3600" spc="130" dirty="0">
                <a:latin typeface="Lucida Sans Unicode"/>
                <a:cs typeface="Lucida Sans Unicode"/>
              </a:rPr>
              <a:t>PDF</a:t>
            </a:r>
            <a:r>
              <a:rPr sz="3600" spc="-345" dirty="0">
                <a:latin typeface="Lucida Sans Unicode"/>
                <a:cs typeface="Lucida Sans Unicode"/>
              </a:rPr>
              <a:t> </a:t>
            </a:r>
            <a:r>
              <a:rPr sz="3600" spc="150" dirty="0">
                <a:latin typeface="Lucida Sans Unicode"/>
                <a:cs typeface="Lucida Sans Unicode"/>
              </a:rPr>
              <a:t>report</a:t>
            </a:r>
            <a:r>
              <a:rPr sz="3600" spc="-320" dirty="0">
                <a:latin typeface="Lucida Sans Unicode"/>
                <a:cs typeface="Lucida Sans Unicode"/>
              </a:rPr>
              <a:t> </a:t>
            </a:r>
            <a:r>
              <a:rPr sz="3600" spc="90" dirty="0">
                <a:latin typeface="Lucida Sans Unicode"/>
                <a:cs typeface="Lucida Sans Unicode"/>
              </a:rPr>
              <a:t>generation.</a:t>
            </a:r>
            <a:endParaRPr sz="3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" y="0"/>
            <a:ext cx="4852854" cy="37721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3126" y="2044906"/>
            <a:ext cx="3825875" cy="2572385"/>
          </a:xfrm>
          <a:custGeom>
            <a:avLst/>
            <a:gdLst/>
            <a:ahLst/>
            <a:cxnLst/>
            <a:rect l="l" t="t" r="r" b="b"/>
            <a:pathLst>
              <a:path w="3825875" h="2572385">
                <a:moveTo>
                  <a:pt x="3789986" y="2571801"/>
                </a:moveTo>
                <a:lnTo>
                  <a:pt x="35890" y="2571801"/>
                </a:lnTo>
                <a:lnTo>
                  <a:pt x="30612" y="2570751"/>
                </a:lnTo>
                <a:lnTo>
                  <a:pt x="1049" y="2541186"/>
                </a:lnTo>
                <a:lnTo>
                  <a:pt x="0" y="2535908"/>
                </a:lnTo>
                <a:lnTo>
                  <a:pt x="0" y="35892"/>
                </a:lnTo>
                <a:lnTo>
                  <a:pt x="30612" y="1049"/>
                </a:lnTo>
                <a:lnTo>
                  <a:pt x="35890" y="0"/>
                </a:lnTo>
                <a:lnTo>
                  <a:pt x="3789986" y="0"/>
                </a:lnTo>
                <a:lnTo>
                  <a:pt x="3824826" y="30613"/>
                </a:lnTo>
                <a:lnTo>
                  <a:pt x="3825876" y="35892"/>
                </a:lnTo>
                <a:lnTo>
                  <a:pt x="3825876" y="82759"/>
                </a:lnTo>
                <a:lnTo>
                  <a:pt x="82754" y="82759"/>
                </a:lnTo>
                <a:lnTo>
                  <a:pt x="82754" y="2489041"/>
                </a:lnTo>
                <a:lnTo>
                  <a:pt x="3825876" y="2489041"/>
                </a:lnTo>
                <a:lnTo>
                  <a:pt x="3825876" y="2535908"/>
                </a:lnTo>
                <a:lnTo>
                  <a:pt x="3795264" y="2570751"/>
                </a:lnTo>
                <a:lnTo>
                  <a:pt x="3789986" y="2571801"/>
                </a:lnTo>
                <a:close/>
              </a:path>
              <a:path w="3825875" h="2572385">
                <a:moveTo>
                  <a:pt x="3825876" y="2489041"/>
                </a:moveTo>
                <a:lnTo>
                  <a:pt x="3743122" y="2489041"/>
                </a:lnTo>
                <a:lnTo>
                  <a:pt x="3743122" y="82759"/>
                </a:lnTo>
                <a:lnTo>
                  <a:pt x="3825876" y="82759"/>
                </a:lnTo>
                <a:lnTo>
                  <a:pt x="3825876" y="248904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21073" y="2044906"/>
            <a:ext cx="3825875" cy="2572385"/>
          </a:xfrm>
          <a:custGeom>
            <a:avLst/>
            <a:gdLst/>
            <a:ahLst/>
            <a:cxnLst/>
            <a:rect l="l" t="t" r="r" b="b"/>
            <a:pathLst>
              <a:path w="3825875" h="2572385">
                <a:moveTo>
                  <a:pt x="3789986" y="2571801"/>
                </a:moveTo>
                <a:lnTo>
                  <a:pt x="35890" y="2571801"/>
                </a:lnTo>
                <a:lnTo>
                  <a:pt x="30612" y="2570751"/>
                </a:lnTo>
                <a:lnTo>
                  <a:pt x="1049" y="2541186"/>
                </a:lnTo>
                <a:lnTo>
                  <a:pt x="0" y="2535908"/>
                </a:lnTo>
                <a:lnTo>
                  <a:pt x="0" y="35892"/>
                </a:lnTo>
                <a:lnTo>
                  <a:pt x="30612" y="1049"/>
                </a:lnTo>
                <a:lnTo>
                  <a:pt x="35890" y="0"/>
                </a:lnTo>
                <a:lnTo>
                  <a:pt x="3789986" y="0"/>
                </a:lnTo>
                <a:lnTo>
                  <a:pt x="3824826" y="30613"/>
                </a:lnTo>
                <a:lnTo>
                  <a:pt x="3825876" y="35892"/>
                </a:lnTo>
                <a:lnTo>
                  <a:pt x="3825876" y="82759"/>
                </a:lnTo>
                <a:lnTo>
                  <a:pt x="82754" y="82759"/>
                </a:lnTo>
                <a:lnTo>
                  <a:pt x="82754" y="2489041"/>
                </a:lnTo>
                <a:lnTo>
                  <a:pt x="3825876" y="2489041"/>
                </a:lnTo>
                <a:lnTo>
                  <a:pt x="3825876" y="2535908"/>
                </a:lnTo>
                <a:lnTo>
                  <a:pt x="3795264" y="2570751"/>
                </a:lnTo>
                <a:lnTo>
                  <a:pt x="3789986" y="2571801"/>
                </a:lnTo>
                <a:close/>
              </a:path>
              <a:path w="3825875" h="2572385">
                <a:moveTo>
                  <a:pt x="3825876" y="2489041"/>
                </a:moveTo>
                <a:lnTo>
                  <a:pt x="3743122" y="2489041"/>
                </a:lnTo>
                <a:lnTo>
                  <a:pt x="3743122" y="82759"/>
                </a:lnTo>
                <a:lnTo>
                  <a:pt x="3825876" y="82759"/>
                </a:lnTo>
                <a:lnTo>
                  <a:pt x="3825876" y="248904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19017" y="2044906"/>
            <a:ext cx="3825875" cy="2572385"/>
          </a:xfrm>
          <a:custGeom>
            <a:avLst/>
            <a:gdLst/>
            <a:ahLst/>
            <a:cxnLst/>
            <a:rect l="l" t="t" r="r" b="b"/>
            <a:pathLst>
              <a:path w="3825875" h="2572385">
                <a:moveTo>
                  <a:pt x="3789986" y="2571801"/>
                </a:moveTo>
                <a:lnTo>
                  <a:pt x="35890" y="2571801"/>
                </a:lnTo>
                <a:lnTo>
                  <a:pt x="30612" y="2570751"/>
                </a:lnTo>
                <a:lnTo>
                  <a:pt x="1049" y="2541186"/>
                </a:lnTo>
                <a:lnTo>
                  <a:pt x="0" y="2535908"/>
                </a:lnTo>
                <a:lnTo>
                  <a:pt x="0" y="35892"/>
                </a:lnTo>
                <a:lnTo>
                  <a:pt x="30612" y="1049"/>
                </a:lnTo>
                <a:lnTo>
                  <a:pt x="35890" y="0"/>
                </a:lnTo>
                <a:lnTo>
                  <a:pt x="3789986" y="0"/>
                </a:lnTo>
                <a:lnTo>
                  <a:pt x="3824826" y="30613"/>
                </a:lnTo>
                <a:lnTo>
                  <a:pt x="3825876" y="35892"/>
                </a:lnTo>
                <a:lnTo>
                  <a:pt x="3825876" y="82759"/>
                </a:lnTo>
                <a:lnTo>
                  <a:pt x="82754" y="82759"/>
                </a:lnTo>
                <a:lnTo>
                  <a:pt x="82754" y="2489041"/>
                </a:lnTo>
                <a:lnTo>
                  <a:pt x="3825876" y="2489041"/>
                </a:lnTo>
                <a:lnTo>
                  <a:pt x="3825876" y="2535908"/>
                </a:lnTo>
                <a:lnTo>
                  <a:pt x="3795264" y="2570751"/>
                </a:lnTo>
                <a:lnTo>
                  <a:pt x="3789986" y="2571801"/>
                </a:lnTo>
                <a:close/>
              </a:path>
              <a:path w="3825875" h="2572385">
                <a:moveTo>
                  <a:pt x="3825876" y="2489041"/>
                </a:moveTo>
                <a:lnTo>
                  <a:pt x="3743122" y="2489041"/>
                </a:lnTo>
                <a:lnTo>
                  <a:pt x="3743122" y="82759"/>
                </a:lnTo>
                <a:lnTo>
                  <a:pt x="3825876" y="82759"/>
                </a:lnTo>
                <a:lnTo>
                  <a:pt x="3825876" y="248904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19017" y="5984677"/>
            <a:ext cx="3825875" cy="2572385"/>
          </a:xfrm>
          <a:custGeom>
            <a:avLst/>
            <a:gdLst/>
            <a:ahLst/>
            <a:cxnLst/>
            <a:rect l="l" t="t" r="r" b="b"/>
            <a:pathLst>
              <a:path w="3825875" h="2572384">
                <a:moveTo>
                  <a:pt x="3789986" y="2571801"/>
                </a:moveTo>
                <a:lnTo>
                  <a:pt x="35890" y="2571801"/>
                </a:lnTo>
                <a:lnTo>
                  <a:pt x="30612" y="2570751"/>
                </a:lnTo>
                <a:lnTo>
                  <a:pt x="1049" y="2541186"/>
                </a:lnTo>
                <a:lnTo>
                  <a:pt x="0" y="2535908"/>
                </a:lnTo>
                <a:lnTo>
                  <a:pt x="0" y="35892"/>
                </a:lnTo>
                <a:lnTo>
                  <a:pt x="30612" y="1049"/>
                </a:lnTo>
                <a:lnTo>
                  <a:pt x="35890" y="0"/>
                </a:lnTo>
                <a:lnTo>
                  <a:pt x="3789986" y="0"/>
                </a:lnTo>
                <a:lnTo>
                  <a:pt x="3824826" y="30613"/>
                </a:lnTo>
                <a:lnTo>
                  <a:pt x="3825876" y="35892"/>
                </a:lnTo>
                <a:lnTo>
                  <a:pt x="3825876" y="82759"/>
                </a:lnTo>
                <a:lnTo>
                  <a:pt x="82754" y="82759"/>
                </a:lnTo>
                <a:lnTo>
                  <a:pt x="82754" y="2489041"/>
                </a:lnTo>
                <a:lnTo>
                  <a:pt x="3825876" y="2489041"/>
                </a:lnTo>
                <a:lnTo>
                  <a:pt x="3825876" y="2535908"/>
                </a:lnTo>
                <a:lnTo>
                  <a:pt x="3795264" y="2570751"/>
                </a:lnTo>
                <a:lnTo>
                  <a:pt x="3789986" y="2571801"/>
                </a:lnTo>
                <a:close/>
              </a:path>
              <a:path w="3825875" h="2572384">
                <a:moveTo>
                  <a:pt x="3825876" y="2489041"/>
                </a:moveTo>
                <a:lnTo>
                  <a:pt x="3743122" y="2489041"/>
                </a:lnTo>
                <a:lnTo>
                  <a:pt x="3743122" y="82759"/>
                </a:lnTo>
                <a:lnTo>
                  <a:pt x="3825876" y="82759"/>
                </a:lnTo>
                <a:lnTo>
                  <a:pt x="3825876" y="248904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21687" y="5984677"/>
            <a:ext cx="3825875" cy="2572385"/>
          </a:xfrm>
          <a:custGeom>
            <a:avLst/>
            <a:gdLst/>
            <a:ahLst/>
            <a:cxnLst/>
            <a:rect l="l" t="t" r="r" b="b"/>
            <a:pathLst>
              <a:path w="3825875" h="2572384">
                <a:moveTo>
                  <a:pt x="3789986" y="2571801"/>
                </a:moveTo>
                <a:lnTo>
                  <a:pt x="35890" y="2571801"/>
                </a:lnTo>
                <a:lnTo>
                  <a:pt x="30612" y="2570751"/>
                </a:lnTo>
                <a:lnTo>
                  <a:pt x="1049" y="2541186"/>
                </a:lnTo>
                <a:lnTo>
                  <a:pt x="0" y="2535908"/>
                </a:lnTo>
                <a:lnTo>
                  <a:pt x="0" y="35892"/>
                </a:lnTo>
                <a:lnTo>
                  <a:pt x="30612" y="1049"/>
                </a:lnTo>
                <a:lnTo>
                  <a:pt x="35890" y="0"/>
                </a:lnTo>
                <a:lnTo>
                  <a:pt x="3789986" y="0"/>
                </a:lnTo>
                <a:lnTo>
                  <a:pt x="3824826" y="30613"/>
                </a:lnTo>
                <a:lnTo>
                  <a:pt x="3825876" y="35892"/>
                </a:lnTo>
                <a:lnTo>
                  <a:pt x="3825876" y="82759"/>
                </a:lnTo>
                <a:lnTo>
                  <a:pt x="82754" y="82759"/>
                </a:lnTo>
                <a:lnTo>
                  <a:pt x="82754" y="2489041"/>
                </a:lnTo>
                <a:lnTo>
                  <a:pt x="3825876" y="2489041"/>
                </a:lnTo>
                <a:lnTo>
                  <a:pt x="3825876" y="2535908"/>
                </a:lnTo>
                <a:lnTo>
                  <a:pt x="3795264" y="2570751"/>
                </a:lnTo>
                <a:lnTo>
                  <a:pt x="3789986" y="2571801"/>
                </a:lnTo>
                <a:close/>
              </a:path>
              <a:path w="3825875" h="2572384">
                <a:moveTo>
                  <a:pt x="3825876" y="2489041"/>
                </a:moveTo>
                <a:lnTo>
                  <a:pt x="3743122" y="2489041"/>
                </a:lnTo>
                <a:lnTo>
                  <a:pt x="3743122" y="82759"/>
                </a:lnTo>
                <a:lnTo>
                  <a:pt x="3825876" y="82759"/>
                </a:lnTo>
                <a:lnTo>
                  <a:pt x="3825876" y="248904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4354" y="5984677"/>
            <a:ext cx="3825875" cy="2572385"/>
          </a:xfrm>
          <a:custGeom>
            <a:avLst/>
            <a:gdLst/>
            <a:ahLst/>
            <a:cxnLst/>
            <a:rect l="l" t="t" r="r" b="b"/>
            <a:pathLst>
              <a:path w="3825875" h="2572384">
                <a:moveTo>
                  <a:pt x="3789986" y="2571801"/>
                </a:moveTo>
                <a:lnTo>
                  <a:pt x="35890" y="2571801"/>
                </a:lnTo>
                <a:lnTo>
                  <a:pt x="30612" y="2570751"/>
                </a:lnTo>
                <a:lnTo>
                  <a:pt x="1049" y="2541186"/>
                </a:lnTo>
                <a:lnTo>
                  <a:pt x="0" y="2535908"/>
                </a:lnTo>
                <a:lnTo>
                  <a:pt x="0" y="35892"/>
                </a:lnTo>
                <a:lnTo>
                  <a:pt x="30612" y="1049"/>
                </a:lnTo>
                <a:lnTo>
                  <a:pt x="35890" y="0"/>
                </a:lnTo>
                <a:lnTo>
                  <a:pt x="3789986" y="0"/>
                </a:lnTo>
                <a:lnTo>
                  <a:pt x="3824826" y="30613"/>
                </a:lnTo>
                <a:lnTo>
                  <a:pt x="3825876" y="35892"/>
                </a:lnTo>
                <a:lnTo>
                  <a:pt x="3825876" y="82759"/>
                </a:lnTo>
                <a:lnTo>
                  <a:pt x="82754" y="82759"/>
                </a:lnTo>
                <a:lnTo>
                  <a:pt x="82754" y="2489041"/>
                </a:lnTo>
                <a:lnTo>
                  <a:pt x="3825876" y="2489041"/>
                </a:lnTo>
                <a:lnTo>
                  <a:pt x="3825876" y="2535908"/>
                </a:lnTo>
                <a:lnTo>
                  <a:pt x="3795264" y="2570751"/>
                </a:lnTo>
                <a:lnTo>
                  <a:pt x="3789986" y="2571801"/>
                </a:lnTo>
                <a:close/>
              </a:path>
              <a:path w="3825875" h="2572384">
                <a:moveTo>
                  <a:pt x="3825876" y="2489041"/>
                </a:moveTo>
                <a:lnTo>
                  <a:pt x="3743122" y="2489041"/>
                </a:lnTo>
                <a:lnTo>
                  <a:pt x="3743122" y="82759"/>
                </a:lnTo>
                <a:lnTo>
                  <a:pt x="3825876" y="82759"/>
                </a:lnTo>
                <a:lnTo>
                  <a:pt x="3825876" y="248904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71793" y="3086100"/>
            <a:ext cx="1333499" cy="8381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1171" y="3086100"/>
            <a:ext cx="1333499" cy="8381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073850" y="5902659"/>
            <a:ext cx="3441700" cy="257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13664" algn="ctr">
              <a:lnSpc>
                <a:spcPct val="116300"/>
              </a:lnSpc>
              <a:spcBef>
                <a:spcPts val="100"/>
              </a:spcBef>
            </a:pPr>
            <a:r>
              <a:rPr sz="3600" spc="140" dirty="0">
                <a:latin typeface="Lucida Sans Unicode"/>
                <a:cs typeface="Lucida Sans Unicode"/>
              </a:rPr>
              <a:t>Prediction</a:t>
            </a:r>
            <a:r>
              <a:rPr sz="3600" spc="-210" dirty="0">
                <a:latin typeface="Lucida Sans Unicode"/>
                <a:cs typeface="Lucida Sans Unicode"/>
              </a:rPr>
              <a:t> </a:t>
            </a:r>
            <a:r>
              <a:rPr sz="3600" spc="-50" dirty="0">
                <a:latin typeface="Lucida Sans Unicode"/>
                <a:cs typeface="Lucida Sans Unicode"/>
              </a:rPr>
              <a:t>&amp; </a:t>
            </a:r>
            <a:r>
              <a:rPr sz="3600" spc="-10" dirty="0">
                <a:latin typeface="Lucida Sans Unicode"/>
                <a:cs typeface="Lucida Sans Unicode"/>
              </a:rPr>
              <a:t>Visualization </a:t>
            </a:r>
            <a:r>
              <a:rPr sz="3600" spc="210" dirty="0">
                <a:latin typeface="Lucida Sans Unicode"/>
                <a:cs typeface="Lucida Sans Unicode"/>
              </a:rPr>
              <a:t>(gauge</a:t>
            </a:r>
            <a:r>
              <a:rPr sz="3600" spc="-405" dirty="0">
                <a:latin typeface="Lucida Sans Unicode"/>
                <a:cs typeface="Lucida Sans Unicode"/>
              </a:rPr>
              <a:t> </a:t>
            </a:r>
            <a:r>
              <a:rPr sz="3600" spc="125" dirty="0">
                <a:latin typeface="Lucida Sans Unicode"/>
                <a:cs typeface="Lucida Sans Unicode"/>
              </a:rPr>
              <a:t>charts, </a:t>
            </a:r>
            <a:r>
              <a:rPr sz="3600" spc="65" dirty="0">
                <a:latin typeface="Lucida Sans Unicode"/>
                <a:cs typeface="Lucida Sans Unicode"/>
              </a:rPr>
              <a:t>risk)</a:t>
            </a:r>
            <a:endParaRPr sz="3600" dirty="0">
              <a:latin typeface="Lucida Sans Unicode"/>
              <a:cs typeface="Lucida Sans Unicod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0776" y="6722235"/>
            <a:ext cx="1333201" cy="838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68416" y="6722235"/>
            <a:ext cx="1333201" cy="8381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18174" y="4754241"/>
            <a:ext cx="628649" cy="109537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METHODOLOGY</a:t>
            </a:r>
            <a:r>
              <a:rPr spc="-110" dirty="0"/>
              <a:t> </a:t>
            </a:r>
            <a:r>
              <a:rPr spc="-1085" dirty="0"/>
              <a:t>/</a:t>
            </a:r>
            <a:r>
              <a:rPr spc="-105" dirty="0"/>
              <a:t> </a:t>
            </a:r>
            <a:r>
              <a:rPr spc="-75" dirty="0"/>
              <a:t>PIPELINE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0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2121220" y="2405152"/>
            <a:ext cx="3235960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199"/>
              </a:lnSpc>
              <a:spcBef>
                <a:spcPts val="100"/>
              </a:spcBef>
            </a:pPr>
            <a:r>
              <a:rPr sz="3200" spc="125" dirty="0">
                <a:latin typeface="Lucida Sans Unicode"/>
                <a:cs typeface="Lucida Sans Unicode"/>
              </a:rPr>
              <a:t>Data</a:t>
            </a:r>
            <a:r>
              <a:rPr sz="3200" spc="-305" dirty="0">
                <a:latin typeface="Lucida Sans Unicode"/>
                <a:cs typeface="Lucida Sans Unicode"/>
              </a:rPr>
              <a:t> </a:t>
            </a:r>
            <a:r>
              <a:rPr sz="3200" spc="110" dirty="0">
                <a:latin typeface="Lucida Sans Unicode"/>
                <a:cs typeface="Lucida Sans Unicode"/>
              </a:rPr>
              <a:t>Collection </a:t>
            </a:r>
            <a:r>
              <a:rPr sz="3200" spc="-20" dirty="0">
                <a:latin typeface="Lucida Sans Unicode"/>
                <a:cs typeface="Lucida Sans Unicode"/>
              </a:rPr>
              <a:t>(7</a:t>
            </a:r>
            <a:r>
              <a:rPr sz="3200" spc="-345" dirty="0">
                <a:latin typeface="Lucida Sans Unicode"/>
                <a:cs typeface="Lucida Sans Unicode"/>
              </a:rPr>
              <a:t> </a:t>
            </a:r>
            <a:r>
              <a:rPr sz="3200" spc="125" dirty="0">
                <a:latin typeface="Lucida Sans Unicode"/>
                <a:cs typeface="Lucida Sans Unicode"/>
              </a:rPr>
              <a:t>disease </a:t>
            </a:r>
            <a:r>
              <a:rPr sz="3200" spc="160" dirty="0">
                <a:latin typeface="Lucida Sans Unicode"/>
                <a:cs typeface="Lucida Sans Unicode"/>
              </a:rPr>
              <a:t>datasets)</a:t>
            </a:r>
            <a:endParaRPr sz="32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25413" y="2124165"/>
            <a:ext cx="302069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199"/>
              </a:lnSpc>
              <a:spcBef>
                <a:spcPts val="100"/>
              </a:spcBef>
            </a:pPr>
            <a:r>
              <a:rPr sz="3200" spc="114" dirty="0">
                <a:latin typeface="Lucida Sans Unicode"/>
                <a:cs typeface="Lucida Sans Unicode"/>
              </a:rPr>
              <a:t>Preprocessing </a:t>
            </a:r>
            <a:r>
              <a:rPr sz="3200" spc="100" dirty="0">
                <a:latin typeface="Lucida Sans Unicode"/>
                <a:cs typeface="Lucida Sans Unicode"/>
              </a:rPr>
              <a:t>(cleaning, encoding, </a:t>
            </a:r>
            <a:r>
              <a:rPr sz="3200" spc="120" dirty="0">
                <a:latin typeface="Lucida Sans Unicode"/>
                <a:cs typeface="Lucida Sans Unicode"/>
              </a:rPr>
              <a:t>scaling)</a:t>
            </a:r>
            <a:endParaRPr sz="3200" dirty="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58968" y="2601062"/>
            <a:ext cx="3743325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1925">
              <a:lnSpc>
                <a:spcPct val="116300"/>
              </a:lnSpc>
              <a:spcBef>
                <a:spcPts val="100"/>
              </a:spcBef>
            </a:pPr>
            <a:r>
              <a:rPr sz="3600" spc="150" dirty="0">
                <a:latin typeface="Lucida Sans Unicode"/>
                <a:cs typeface="Lucida Sans Unicode"/>
              </a:rPr>
              <a:t>Model</a:t>
            </a:r>
            <a:r>
              <a:rPr sz="3600" spc="-445" dirty="0">
                <a:latin typeface="Lucida Sans Unicode"/>
                <a:cs typeface="Lucida Sans Unicode"/>
              </a:rPr>
              <a:t> </a:t>
            </a:r>
            <a:r>
              <a:rPr sz="3600" spc="-10" dirty="0">
                <a:latin typeface="Lucida Sans Unicode"/>
                <a:cs typeface="Lucida Sans Unicode"/>
              </a:rPr>
              <a:t>Training </a:t>
            </a:r>
            <a:r>
              <a:rPr sz="3600" spc="200" dirty="0">
                <a:latin typeface="Lucida Sans Unicode"/>
                <a:cs typeface="Lucida Sans Unicode"/>
              </a:rPr>
              <a:t>(ML</a:t>
            </a:r>
            <a:r>
              <a:rPr sz="3600" spc="-340" dirty="0">
                <a:latin typeface="Lucida Sans Unicode"/>
                <a:cs typeface="Lucida Sans Unicode"/>
              </a:rPr>
              <a:t> </a:t>
            </a:r>
            <a:r>
              <a:rPr sz="3600" spc="130" dirty="0">
                <a:latin typeface="Lucida Sans Unicode"/>
                <a:cs typeface="Lucida Sans Unicode"/>
              </a:rPr>
              <a:t>algorithms)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364869" y="6308318"/>
            <a:ext cx="313817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marR="5080" indent="-412115">
              <a:lnSpc>
                <a:spcPct val="116300"/>
              </a:lnSpc>
              <a:spcBef>
                <a:spcPts val="100"/>
              </a:spcBef>
            </a:pPr>
            <a:r>
              <a:rPr sz="3600" spc="150" dirty="0">
                <a:latin typeface="Lucida Sans Unicode"/>
                <a:cs typeface="Lucida Sans Unicode"/>
              </a:rPr>
              <a:t>Model</a:t>
            </a:r>
            <a:r>
              <a:rPr sz="3600" spc="-315" dirty="0">
                <a:latin typeface="Lucida Sans Unicode"/>
                <a:cs typeface="Lucida Sans Unicode"/>
              </a:rPr>
              <a:t> </a:t>
            </a:r>
            <a:r>
              <a:rPr sz="3600" spc="135" dirty="0">
                <a:latin typeface="Lucida Sans Unicode"/>
                <a:cs typeface="Lucida Sans Unicode"/>
              </a:rPr>
              <a:t>Saving </a:t>
            </a:r>
            <a:r>
              <a:rPr sz="3600" spc="50" dirty="0">
                <a:latin typeface="Lucida Sans Unicode"/>
                <a:cs typeface="Lucida Sans Unicode"/>
              </a:rPr>
              <a:t>(.pkl</a:t>
            </a:r>
            <a:r>
              <a:rPr sz="3600" spc="-375" dirty="0">
                <a:latin typeface="Lucida Sans Unicode"/>
                <a:cs typeface="Lucida Sans Unicode"/>
              </a:rPr>
              <a:t> </a:t>
            </a:r>
            <a:r>
              <a:rPr sz="3600" spc="114" dirty="0">
                <a:latin typeface="Lucida Sans Unicode"/>
                <a:cs typeface="Lucida Sans Unicode"/>
              </a:rPr>
              <a:t>files)</a:t>
            </a:r>
            <a:endParaRPr sz="3600" dirty="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07814" y="6393395"/>
            <a:ext cx="368998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4965">
              <a:lnSpc>
                <a:spcPct val="115199"/>
              </a:lnSpc>
              <a:spcBef>
                <a:spcPts val="100"/>
              </a:spcBef>
            </a:pPr>
            <a:r>
              <a:rPr sz="3200" spc="130" dirty="0">
                <a:latin typeface="Lucida Sans Unicode"/>
                <a:cs typeface="Lucida Sans Unicode"/>
              </a:rPr>
              <a:t>Streamlit</a:t>
            </a:r>
            <a:r>
              <a:rPr sz="3200" spc="-275" dirty="0">
                <a:latin typeface="Lucida Sans Unicode"/>
                <a:cs typeface="Lucida Sans Unicode"/>
              </a:rPr>
              <a:t> </a:t>
            </a:r>
            <a:r>
              <a:rPr sz="3200" spc="105" dirty="0">
                <a:latin typeface="Lucida Sans Unicode"/>
                <a:cs typeface="Lucida Sans Unicode"/>
              </a:rPr>
              <a:t>App </a:t>
            </a:r>
            <a:r>
              <a:rPr sz="3200" spc="140" dirty="0">
                <a:latin typeface="Lucida Sans Unicode"/>
                <a:cs typeface="Lucida Sans Unicode"/>
              </a:rPr>
              <a:t>(UI</a:t>
            </a:r>
            <a:r>
              <a:rPr sz="3200" spc="-330" dirty="0">
                <a:latin typeface="Lucida Sans Unicode"/>
                <a:cs typeface="Lucida Sans Unicode"/>
              </a:rPr>
              <a:t> </a:t>
            </a:r>
            <a:r>
              <a:rPr sz="3200" spc="100" dirty="0">
                <a:latin typeface="Lucida Sans Unicode"/>
                <a:cs typeface="Lucida Sans Unicode"/>
              </a:rPr>
              <a:t>for</a:t>
            </a:r>
            <a:r>
              <a:rPr sz="3200" spc="-285" dirty="0">
                <a:latin typeface="Lucida Sans Unicode"/>
                <a:cs typeface="Lucida Sans Unicode"/>
              </a:rPr>
              <a:t> </a:t>
            </a:r>
            <a:r>
              <a:rPr sz="3200" spc="114" dirty="0">
                <a:latin typeface="Lucida Sans Unicode"/>
                <a:cs typeface="Lucida Sans Unicode"/>
              </a:rPr>
              <a:t>user</a:t>
            </a:r>
            <a:r>
              <a:rPr sz="3200" spc="-270" dirty="0">
                <a:latin typeface="Lucida Sans Unicode"/>
                <a:cs typeface="Lucida Sans Unicode"/>
              </a:rPr>
              <a:t> </a:t>
            </a:r>
            <a:r>
              <a:rPr sz="3200" spc="125" dirty="0">
                <a:latin typeface="Lucida Sans Unicode"/>
                <a:cs typeface="Lucida Sans Unicode"/>
              </a:rPr>
              <a:t>input)</a:t>
            </a:r>
            <a:endParaRPr sz="32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093" y="1333500"/>
            <a:ext cx="7743824" cy="70216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9038" y="1416292"/>
            <a:ext cx="8343899" cy="69388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86600" y="419100"/>
            <a:ext cx="4807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3F3C3D"/>
                </a:solidFill>
                <a:latin typeface="Verdana"/>
                <a:cs typeface="Verdana"/>
              </a:rPr>
              <a:t>TRAIN</a:t>
            </a:r>
            <a:r>
              <a:rPr sz="1400" spc="-30" dirty="0">
                <a:solidFill>
                  <a:srgbClr val="3F3C3D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F3C3D"/>
                </a:solidFill>
                <a:latin typeface="Verdana"/>
                <a:cs typeface="Verdana"/>
              </a:rPr>
              <a:t>AND</a:t>
            </a:r>
            <a:r>
              <a:rPr sz="1400" spc="-30" dirty="0">
                <a:solidFill>
                  <a:srgbClr val="3F3C3D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F3C3D"/>
                </a:solidFill>
                <a:latin typeface="Verdana"/>
                <a:cs typeface="Verdana"/>
              </a:rPr>
              <a:t>TEST</a:t>
            </a:r>
            <a:r>
              <a:rPr sz="1400" spc="430" dirty="0">
                <a:solidFill>
                  <a:srgbClr val="3F3C3D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F3C3D"/>
                </a:solidFill>
                <a:latin typeface="Verdana"/>
                <a:cs typeface="Verdana"/>
              </a:rPr>
              <a:t>MODEL</a:t>
            </a:r>
            <a:r>
              <a:rPr sz="1400" spc="-30" dirty="0">
                <a:solidFill>
                  <a:srgbClr val="3F3C3D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F3C3D"/>
                </a:solidFill>
                <a:latin typeface="Verdana"/>
                <a:cs typeface="Verdana"/>
              </a:rPr>
              <a:t>PERFORMANCE</a:t>
            </a:r>
            <a:r>
              <a:rPr sz="1400" spc="-30" dirty="0">
                <a:solidFill>
                  <a:srgbClr val="3F3C3D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F3C3D"/>
                </a:solidFill>
                <a:latin typeface="Verdana"/>
                <a:cs typeface="Verdana"/>
              </a:rPr>
              <a:t>MEASURES</a:t>
            </a:r>
            <a:endParaRPr sz="14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9275" y="573069"/>
            <a:ext cx="17562830" cy="9265285"/>
            <a:chOff x="579275" y="573069"/>
            <a:chExt cx="17562830" cy="9265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0141" y="4293150"/>
              <a:ext cx="3324224" cy="55340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275" y="573069"/>
              <a:ext cx="4619624" cy="5486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5886" y="573069"/>
              <a:ext cx="4476749" cy="5486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84472" y="4056142"/>
              <a:ext cx="3857624" cy="57816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50784" y="6758355"/>
              <a:ext cx="11019790" cy="2498090"/>
            </a:xfrm>
            <a:custGeom>
              <a:avLst/>
              <a:gdLst/>
              <a:ahLst/>
              <a:cxnLst/>
              <a:rect l="l" t="t" r="r" b="b"/>
              <a:pathLst>
                <a:path w="11019790" h="2498090">
                  <a:moveTo>
                    <a:pt x="2478328" y="1543050"/>
                  </a:moveTo>
                  <a:lnTo>
                    <a:pt x="1239164" y="0"/>
                  </a:lnTo>
                  <a:lnTo>
                    <a:pt x="0" y="1543050"/>
                  </a:lnTo>
                  <a:lnTo>
                    <a:pt x="771525" y="1543050"/>
                  </a:lnTo>
                  <a:lnTo>
                    <a:pt x="771525" y="2497683"/>
                  </a:lnTo>
                  <a:lnTo>
                    <a:pt x="1706803" y="2497683"/>
                  </a:lnTo>
                  <a:lnTo>
                    <a:pt x="1706803" y="1543050"/>
                  </a:lnTo>
                  <a:lnTo>
                    <a:pt x="2478328" y="1543050"/>
                  </a:lnTo>
                  <a:close/>
                </a:path>
                <a:path w="11019790" h="2498090">
                  <a:moveTo>
                    <a:pt x="11019282" y="1543050"/>
                  </a:moveTo>
                  <a:lnTo>
                    <a:pt x="9780118" y="0"/>
                  </a:lnTo>
                  <a:lnTo>
                    <a:pt x="8540953" y="1543050"/>
                  </a:lnTo>
                  <a:lnTo>
                    <a:pt x="9312478" y="1543050"/>
                  </a:lnTo>
                  <a:lnTo>
                    <a:pt x="9312478" y="2497683"/>
                  </a:lnTo>
                  <a:lnTo>
                    <a:pt x="10247757" y="2497683"/>
                  </a:lnTo>
                  <a:lnTo>
                    <a:pt x="10247757" y="1543050"/>
                  </a:lnTo>
                  <a:lnTo>
                    <a:pt x="11019282" y="154305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02807" y="843190"/>
              <a:ext cx="11056620" cy="3268345"/>
            </a:xfrm>
            <a:custGeom>
              <a:avLst/>
              <a:gdLst/>
              <a:ahLst/>
              <a:cxnLst/>
              <a:rect l="l" t="t" r="r" b="b"/>
              <a:pathLst>
                <a:path w="11056619" h="3268345">
                  <a:moveTo>
                    <a:pt x="2320760" y="1728571"/>
                  </a:moveTo>
                  <a:lnTo>
                    <a:pt x="1549234" y="1728571"/>
                  </a:lnTo>
                  <a:lnTo>
                    <a:pt x="1549234" y="185521"/>
                  </a:lnTo>
                  <a:lnTo>
                    <a:pt x="771525" y="185521"/>
                  </a:lnTo>
                  <a:lnTo>
                    <a:pt x="771525" y="1728571"/>
                  </a:lnTo>
                  <a:lnTo>
                    <a:pt x="0" y="1728571"/>
                  </a:lnTo>
                  <a:lnTo>
                    <a:pt x="1157490" y="3267773"/>
                  </a:lnTo>
                  <a:lnTo>
                    <a:pt x="1163269" y="3267773"/>
                  </a:lnTo>
                  <a:lnTo>
                    <a:pt x="2320760" y="1728571"/>
                  </a:lnTo>
                  <a:close/>
                </a:path>
                <a:path w="11056619" h="3268345">
                  <a:moveTo>
                    <a:pt x="11056480" y="1272933"/>
                  </a:moveTo>
                  <a:lnTo>
                    <a:pt x="10284955" y="1272933"/>
                  </a:lnTo>
                  <a:lnTo>
                    <a:pt x="10284955" y="0"/>
                  </a:lnTo>
                  <a:lnTo>
                    <a:pt x="9521419" y="0"/>
                  </a:lnTo>
                  <a:lnTo>
                    <a:pt x="9521419" y="1272933"/>
                  </a:lnTo>
                  <a:lnTo>
                    <a:pt x="8749894" y="1272933"/>
                  </a:lnTo>
                  <a:lnTo>
                    <a:pt x="9903193" y="2815983"/>
                  </a:lnTo>
                  <a:lnTo>
                    <a:pt x="11056480" y="1272933"/>
                  </a:lnTo>
                  <a:close/>
                </a:path>
              </a:pathLst>
            </a:custGeom>
            <a:solidFill>
              <a:srgbClr val="3F3C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0933" y="3745989"/>
            <a:ext cx="4381499" cy="55149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590" y="372665"/>
            <a:ext cx="4324349" cy="5534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76564" y="601086"/>
            <a:ext cx="4686299" cy="54673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518291" y="6378080"/>
            <a:ext cx="2478405" cy="2498090"/>
          </a:xfrm>
          <a:custGeom>
            <a:avLst/>
            <a:gdLst/>
            <a:ahLst/>
            <a:cxnLst/>
            <a:rect l="l" t="t" r="r" b="b"/>
            <a:pathLst>
              <a:path w="2478405" h="2498090">
                <a:moveTo>
                  <a:pt x="2478328" y="1543049"/>
                </a:moveTo>
                <a:lnTo>
                  <a:pt x="0" y="1543049"/>
                </a:lnTo>
                <a:lnTo>
                  <a:pt x="1239163" y="0"/>
                </a:lnTo>
                <a:lnTo>
                  <a:pt x="2478328" y="1543049"/>
                </a:lnTo>
                <a:close/>
              </a:path>
              <a:path w="2478405" h="2498090">
                <a:moveTo>
                  <a:pt x="1706803" y="2497690"/>
                </a:moveTo>
                <a:lnTo>
                  <a:pt x="771524" y="2497690"/>
                </a:lnTo>
                <a:lnTo>
                  <a:pt x="771524" y="1543049"/>
                </a:lnTo>
                <a:lnTo>
                  <a:pt x="1706803" y="1543049"/>
                </a:lnTo>
                <a:lnTo>
                  <a:pt x="1706803" y="249769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19316" y="6502145"/>
            <a:ext cx="2478405" cy="2498090"/>
          </a:xfrm>
          <a:custGeom>
            <a:avLst/>
            <a:gdLst/>
            <a:ahLst/>
            <a:cxnLst/>
            <a:rect l="l" t="t" r="r" b="b"/>
            <a:pathLst>
              <a:path w="2478404" h="2498090">
                <a:moveTo>
                  <a:pt x="2478328" y="1543049"/>
                </a:moveTo>
                <a:lnTo>
                  <a:pt x="0" y="1543049"/>
                </a:lnTo>
                <a:lnTo>
                  <a:pt x="1239164" y="0"/>
                </a:lnTo>
                <a:lnTo>
                  <a:pt x="2478328" y="1543049"/>
                </a:lnTo>
                <a:close/>
              </a:path>
              <a:path w="2478404" h="2498090">
                <a:moveTo>
                  <a:pt x="1706803" y="2497690"/>
                </a:moveTo>
                <a:lnTo>
                  <a:pt x="771524" y="2497690"/>
                </a:lnTo>
                <a:lnTo>
                  <a:pt x="771524" y="1543049"/>
                </a:lnTo>
                <a:lnTo>
                  <a:pt x="1706803" y="1543049"/>
                </a:lnTo>
                <a:lnTo>
                  <a:pt x="1706803" y="249769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85793" y="372665"/>
            <a:ext cx="2546350" cy="3082925"/>
          </a:xfrm>
          <a:custGeom>
            <a:avLst/>
            <a:gdLst/>
            <a:ahLst/>
            <a:cxnLst/>
            <a:rect l="l" t="t" r="r" b="b"/>
            <a:pathLst>
              <a:path w="2546350" h="3082925">
                <a:moveTo>
                  <a:pt x="1774334" y="1543050"/>
                </a:moveTo>
                <a:lnTo>
                  <a:pt x="771525" y="1543050"/>
                </a:lnTo>
                <a:lnTo>
                  <a:pt x="771525" y="0"/>
                </a:lnTo>
                <a:lnTo>
                  <a:pt x="1774334" y="0"/>
                </a:lnTo>
                <a:lnTo>
                  <a:pt x="1774334" y="1543050"/>
                </a:lnTo>
                <a:close/>
              </a:path>
              <a:path w="2546350" h="3082925">
                <a:moveTo>
                  <a:pt x="1275589" y="3082876"/>
                </a:moveTo>
                <a:lnTo>
                  <a:pt x="1270270" y="3082876"/>
                </a:lnTo>
                <a:lnTo>
                  <a:pt x="0" y="1543050"/>
                </a:lnTo>
                <a:lnTo>
                  <a:pt x="2545859" y="1543050"/>
                </a:lnTo>
                <a:lnTo>
                  <a:pt x="1275589" y="308287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7427" y="9006877"/>
            <a:ext cx="705485" cy="8991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4750" spc="-520" dirty="0">
                <a:solidFill>
                  <a:srgbClr val="535353"/>
                </a:solidFill>
                <a:latin typeface="Arial Black"/>
                <a:cs typeface="Arial Black"/>
              </a:rPr>
              <a:t>10</a:t>
            </a:r>
            <a:endParaRPr sz="4750">
              <a:latin typeface="Arial Black"/>
              <a:cs typeface="Arial Black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573220"/>
            <a:ext cx="10896600" cy="71405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485901"/>
            <a:ext cx="103632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3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485901"/>
            <a:ext cx="10820400" cy="714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0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216" y="1562100"/>
            <a:ext cx="10266784" cy="70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1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714500"/>
            <a:ext cx="10363200" cy="64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6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333500"/>
            <a:ext cx="9753600" cy="44657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62800" y="7124699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DEMO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75640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67400" y="816533"/>
            <a:ext cx="632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EVALUATION</a:t>
            </a:r>
            <a:endParaRPr lang="en-IN" sz="7200" b="1" dirty="0"/>
          </a:p>
        </p:txBody>
      </p:sp>
      <p:sp>
        <p:nvSpPr>
          <p:cNvPr id="4" name="Right Arrow 3"/>
          <p:cNvSpPr/>
          <p:nvPr/>
        </p:nvSpPr>
        <p:spPr>
          <a:xfrm>
            <a:off x="1981200" y="23681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357465" y="2016862"/>
            <a:ext cx="1327590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3200" dirty="0"/>
              <a:t>Developed &amp; tested </a:t>
            </a:r>
            <a:r>
              <a:rPr lang="en-IN" sz="3200" b="1" dirty="0"/>
              <a:t>7 disease-specific models</a:t>
            </a:r>
            <a:r>
              <a:rPr lang="en-IN" sz="3200" dirty="0"/>
              <a:t> (Kidney, Heart, Diabetes, Liver, Cancer, Stroke, Hypertension).</a:t>
            </a:r>
          </a:p>
          <a:p>
            <a:r>
              <a:rPr lang="en-IN" sz="3200" dirty="0"/>
              <a:t>Unified evaluation using </a:t>
            </a:r>
            <a:r>
              <a:rPr lang="en-IN" sz="3200" b="1" dirty="0"/>
              <a:t>accuracy, precision, recall, F1-score &amp; confusion matrices</a:t>
            </a:r>
            <a:endParaRPr lang="en-IN" sz="3200" dirty="0"/>
          </a:p>
          <a:p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1959429" y="439064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335694" y="4390647"/>
            <a:ext cx="123615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High fidelity models</a:t>
            </a:r>
            <a:r>
              <a:rPr lang="en-IN" sz="3200" dirty="0"/>
              <a:t>: Kidney, Cancer, Stroke (≈95–100% accuracy).</a:t>
            </a:r>
          </a:p>
          <a:p>
            <a:r>
              <a:rPr lang="en-IN" sz="3200" b="1" dirty="0"/>
              <a:t>Moderate performers</a:t>
            </a:r>
            <a:r>
              <a:rPr lang="en-IN" sz="3200" dirty="0"/>
              <a:t>: Diabetes, Hypertension (≈75–85%)</a:t>
            </a:r>
          </a:p>
          <a:p>
            <a:endParaRPr lang="en-IN" sz="3200" dirty="0"/>
          </a:p>
          <a:p>
            <a:r>
              <a:rPr lang="en-IN" sz="3200" b="1" dirty="0"/>
              <a:t>Challenging domains</a:t>
            </a:r>
            <a:r>
              <a:rPr lang="en-IN" sz="3200" dirty="0"/>
              <a:t>: Heart, Liver (≈55–65%), due to </a:t>
            </a:r>
            <a:r>
              <a:rPr lang="en-IN" sz="3200" b="1" dirty="0"/>
              <a:t>imbalanced datasets &amp; overlapping symptoms</a:t>
            </a:r>
            <a:r>
              <a:rPr lang="en-IN" sz="3200" dirty="0"/>
              <a:t>.</a:t>
            </a:r>
          </a:p>
          <a:p>
            <a:endParaRPr lang="en-IN" sz="3200" dirty="0"/>
          </a:p>
        </p:txBody>
      </p:sp>
      <p:sp>
        <p:nvSpPr>
          <p:cNvPr id="8" name="Right Arrow 7"/>
          <p:cNvSpPr/>
          <p:nvPr/>
        </p:nvSpPr>
        <p:spPr>
          <a:xfrm>
            <a:off x="1959429" y="546201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>
            <a:off x="1981200" y="661330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335694" y="7474437"/>
            <a:ext cx="123615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Instead of relying on accuracy alone, we emphasized </a:t>
            </a:r>
            <a:r>
              <a:rPr lang="en-US" sz="3200" b="1" dirty="0"/>
              <a:t>balanced metrics (Precision–Recall tradeoff</a:t>
            </a:r>
            <a:r>
              <a:rPr lang="en-US" b="1" dirty="0"/>
              <a:t>)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2" name="Right Arrow 11"/>
          <p:cNvSpPr/>
          <p:nvPr/>
        </p:nvSpPr>
        <p:spPr>
          <a:xfrm>
            <a:off x="1981200" y="748181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79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0" y="745104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INFERENCE</a:t>
            </a:r>
            <a:endParaRPr lang="en-IN" sz="7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543300" y="2534940"/>
            <a:ext cx="11277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AI can predict multiple disease with good accuracy.</a:t>
            </a:r>
          </a:p>
          <a:p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2209800" y="259185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Arrow 4"/>
          <p:cNvSpPr/>
          <p:nvPr/>
        </p:nvSpPr>
        <p:spPr>
          <a:xfrm>
            <a:off x="2209800" y="427741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900196" y="4223437"/>
            <a:ext cx="891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Shows AI is useful as a doctor ‘s assistant ,not a replacement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Right Arrow 6"/>
          <p:cNvSpPr/>
          <p:nvPr/>
        </p:nvSpPr>
        <p:spPr>
          <a:xfrm>
            <a:off x="2209800" y="64389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3823996" y="6438900"/>
            <a:ext cx="1211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With More Data ,accuracy will improve all disease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6842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81400" y="3924300"/>
            <a:ext cx="1036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         THANK 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3213212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266</Words>
  <Application>Microsoft Office PowerPoint</Application>
  <PresentationFormat>Custom</PresentationFormat>
  <Paragraphs>45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AI-POWERED MULTI-DISEASE PREDICTION SYSTEM</vt:lpstr>
      <vt:lpstr>PROBLEM STATEMENT</vt:lpstr>
      <vt:lpstr>PROPOSED SOLUTION</vt:lpstr>
      <vt:lpstr>METHODOLOGY /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ai-powered multi-disease prediction system</dc:title>
  <dc:creator>Srini Vasan</dc:creator>
  <cp:keywords>DAGztWAQw5E,BAGwnFcTNNw,0</cp:keywords>
  <cp:lastModifiedBy>Srini Vasan</cp:lastModifiedBy>
  <cp:revision>9</cp:revision>
  <dcterms:created xsi:type="dcterms:W3CDTF">2025-09-22T16:07:26Z</dcterms:created>
  <dcterms:modified xsi:type="dcterms:W3CDTF">2025-09-22T17:52:15Z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2025-09-22T00:00:00Z</vt:filetime>
  </property>
  <property fmtid="{D5CDD505-2E9C-101B-9397-08002B2CF9AE}" pid="5" name="Producer">
    <vt:lpwstr>Canva</vt:lpwstr>
  </property>
</Properties>
</file>